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6b1c8f1-a64d-633a-4783-36a4c5722295}">
          <p14:sldIdLst>
            <p14:sldId id="256"/>
            <p14:sldId id="257"/>
            <p14:sldId id="258"/>
            <p14:sldId id="259"/>
          </p14:sldIdLst>
        </p14:section>
        <p14:section name="How we work" id="{fb3c1ac0-0079-66f8-d39d-ff1a9d0258d8}">
          <p14:sldIdLst>
            <p14:sldId id="260"/>
            <p14:sldId id="261"/>
          </p14:sldIdLst>
        </p14:section>
        <p14:section name="Capabilities" id="{0b1da4d1-8460-d7a5-181e-d7b87b1ceb75}">
          <p14:sldIdLst>
            <p14:sldId id="262"/>
            <p14:sldId id="263"/>
            <p14:sldId id="264"/>
            <p14:sldId id="265"/>
            <p14:sldId id="266"/>
          </p14:sldIdLst>
        </p14:section>
        <p14:section name="Track record" id="{0f1b4499-b0ed-540f-84b2-0fa9860c0da0}">
          <p14:sldIdLst>
            <p14:sldId id="267"/>
            <p14:sldId id="268"/>
            <p14:sldId id="269"/>
          </p14:sldIdLst>
        </p14:section>
        <p14:section name="Contact" id="{512fc673-7c08-28d6-23c6-cff9d894bf39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JD Pharma Consultants — pharmaceutical consulting and turnkey plant engineering since 2003.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facts: established 2003, 30+ pharmaceutical facilities consulted and set up, projects in 13+ countries, ISO 9001:2015 certified (Bureau Veritas, certificate IND.26.14131/QM/U, UKAS accredited).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Regulatory frameworks JD Pharma designs to: USFDA, MHRA, EU-GMP, WHO-GMP, TGA, ANVISA, Schedule M and cGMP.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Vision and the six reasons clients choose JD Pharma.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eight-stage turnkey cycle: project planning &amp; design, machine selection, tender preparation, vendor approval, procurement, equipment selection, testing &amp; commissioning,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of a GMP layout drawing produced by JD Pharma.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Dosage forms and segments: LVP, SVP, solid dosages, liquid orals, ointments, dry powder, API, medical devices, oncology products.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Service lines as listed on jdpharmaconsultants.co.in.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 layout, civil, electrical and utility design scope from the company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HVAC, cleanroom, machinery selection and plant safety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Environmental, cGMP, feasibility and turnkey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Projects referenced in client testimonials on jdpharmaconsultants.co.in.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Countries with JD Pharma projects or clients, from the company profile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 list from the company profile; NutraWest and Doctors Company added from website testimonials.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 with office addresses and contact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jdp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292608"/>
            <a:ext cx="1325880" cy="594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680"/>
                </a:solidFill>
              </a:rPr>
              <a:t>JD Pharma Consultants Pvt. Ltd.  |  www.jdpharmaconsultants.co.in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6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jdp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292608"/>
            <a:ext cx="1325880" cy="5943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6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1F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6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nt line art" descr="/home/claude/jdp/assets/lineart_nav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0"/>
            <a:ext cx="7071055" cy="6858000"/>
          </a:xfrm>
          <a:prstGeom prst="rect">
            <a:avLst/>
          </a:prstGeom>
        </p:spPr>
      </p:pic>
      <p:sp>
        <p:nvSpPr>
          <p:cNvPr id="3" name="Cover angle"/>
          <p:cNvSpPr/>
          <p:nvPr/>
        </p:nvSpPr>
        <p:spPr>
          <a:xfrm flipV="1" rot="10800000">
            <a:off x="5120640" y="0"/>
            <a:ext cx="2011680" cy="6858000"/>
          </a:xfrm>
          <a:prstGeom prst="rtTriangle">
            <a:avLst/>
          </a:prstGeom>
          <a:solidFill>
            <a:srgbClr val="001F66"/>
          </a:solidFill>
          <a:ln/>
        </p:spPr>
      </p:sp>
      <p:sp>
        <p:nvSpPr>
          <p:cNvPr id="4" name="Orange band"/>
          <p:cNvSpPr/>
          <p:nvPr/>
        </p:nvSpPr>
        <p:spPr>
          <a:xfrm>
            <a:off x="6263640" y="5440680"/>
            <a:ext cx="5943600" cy="502920"/>
          </a:xfrm>
          <a:prstGeom prst="parallelogram">
            <a:avLst/>
          </a:prstGeom>
          <a:solidFill>
            <a:srgbClr val="EF7C00"/>
          </a:solidFill>
          <a:ln/>
        </p:spPr>
      </p:sp>
      <p:pic>
        <p:nvPicPr>
          <p:cNvPr id="5" name="Logo" descr="/home/claude/jdp/assets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94360"/>
            <a:ext cx="2651760" cy="119161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40080" y="214884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Pharmaceutical Consulting Services &amp; Beyond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425196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7C00"/>
                </a:solidFill>
              </a:rPr>
              <a:t>Your trusted partner for pharmaceutical projects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48006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4F2"/>
                </a:solidFill>
              </a:rPr>
              <a:t>Turnkey plant engineering  •  Project management  •  Global regulatory compliance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60350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Since 2003  |  ISO 9001:2015 Certified  |  Indore  •  Ahmedabad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WHO WE ARE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Turnkey consultancy for regulated manufacturing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340"/>
                </a:solidFill>
              </a:rPr>
              <a:t>JD Pharma Consultants delivers turnkey consultancy services to the Pharma, Biopharma, Nutraceutical, Food &amp; Beverages, API and Chemical industries.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1B2340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340"/>
                </a:solidFill>
              </a:rPr>
              <a:t>We design facilities in compliance with USFDA, MHRA, WHO-GMP, EU-GMP, TGA, ANVISA and Schedule M — and stay with you from the planning stage until the plant is validated by the regulatory authority.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26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D6680"/>
                </a:solidFill>
              </a:rPr>
              <a:t>INDUSTRIES WE SERVE</a:t>
            </a:r>
            <a:endParaRPr lang="en-US" sz="1100" dirty="0"/>
          </a:p>
        </p:txBody>
      </p:sp>
      <p:sp>
        <p:nvSpPr>
          <p:cNvPr id="6" name="Industry Pharma"/>
          <p:cNvSpPr/>
          <p:nvPr/>
        </p:nvSpPr>
        <p:spPr>
          <a:xfrm>
            <a:off x="548640" y="489204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EEF2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99"/>
                </a:solidFill>
              </a:rPr>
              <a:t>Pharma</a:t>
            </a:r>
            <a:endParaRPr lang="en-US" sz="1200" dirty="0"/>
          </a:p>
        </p:txBody>
      </p:sp>
      <p:sp>
        <p:nvSpPr>
          <p:cNvPr id="7" name="Industry Biopharma"/>
          <p:cNvSpPr/>
          <p:nvPr/>
        </p:nvSpPr>
        <p:spPr>
          <a:xfrm>
            <a:off x="1554480" y="4892040"/>
            <a:ext cx="1156716" cy="347472"/>
          </a:xfrm>
          <a:prstGeom prst="roundRect">
            <a:avLst>
              <a:gd name="adj" fmla="val 50000"/>
            </a:avLst>
          </a:prstGeom>
          <a:solidFill>
            <a:srgbClr val="EEF2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99"/>
                </a:solidFill>
              </a:rPr>
              <a:t>Biopharma</a:t>
            </a:r>
            <a:endParaRPr lang="en-US" sz="1200" dirty="0"/>
          </a:p>
        </p:txBody>
      </p:sp>
      <p:sp>
        <p:nvSpPr>
          <p:cNvPr id="8" name="Industry Nutraceutical"/>
          <p:cNvSpPr/>
          <p:nvPr/>
        </p:nvSpPr>
        <p:spPr>
          <a:xfrm>
            <a:off x="2848356" y="4892040"/>
            <a:ext cx="1540764" cy="347472"/>
          </a:xfrm>
          <a:prstGeom prst="roundRect">
            <a:avLst>
              <a:gd name="adj" fmla="val 50000"/>
            </a:avLst>
          </a:prstGeom>
          <a:solidFill>
            <a:srgbClr val="EEF2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99"/>
                </a:solidFill>
              </a:rPr>
              <a:t>Nutraceutical</a:t>
            </a:r>
            <a:endParaRPr lang="en-US" sz="1200" dirty="0"/>
          </a:p>
        </p:txBody>
      </p:sp>
      <p:sp>
        <p:nvSpPr>
          <p:cNvPr id="9" name="Industry Food &amp;amp; Beverages"/>
          <p:cNvSpPr/>
          <p:nvPr/>
        </p:nvSpPr>
        <p:spPr>
          <a:xfrm>
            <a:off x="548640" y="534924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EEF2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99"/>
                </a:solidFill>
              </a:rPr>
              <a:t>Food &amp; Beverages</a:t>
            </a:r>
            <a:endParaRPr lang="en-US" sz="1200" dirty="0"/>
          </a:p>
        </p:txBody>
      </p:sp>
      <p:sp>
        <p:nvSpPr>
          <p:cNvPr id="10" name="Industry API"/>
          <p:cNvSpPr/>
          <p:nvPr/>
        </p:nvSpPr>
        <p:spPr>
          <a:xfrm>
            <a:off x="2514600" y="5349240"/>
            <a:ext cx="580644" cy="347472"/>
          </a:xfrm>
          <a:prstGeom prst="roundRect">
            <a:avLst>
              <a:gd name="adj" fmla="val 50000"/>
            </a:avLst>
          </a:prstGeom>
          <a:solidFill>
            <a:srgbClr val="EEF2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99"/>
                </a:solidFill>
              </a:rPr>
              <a:t>API</a:t>
            </a:r>
            <a:endParaRPr lang="en-US" sz="1200" dirty="0"/>
          </a:p>
        </p:txBody>
      </p:sp>
      <p:sp>
        <p:nvSpPr>
          <p:cNvPr id="11" name="Industry Chemicals"/>
          <p:cNvSpPr/>
          <p:nvPr/>
        </p:nvSpPr>
        <p:spPr>
          <a:xfrm>
            <a:off x="3232404" y="5349240"/>
            <a:ext cx="1156716" cy="347472"/>
          </a:xfrm>
          <a:prstGeom prst="roundRect">
            <a:avLst>
              <a:gd name="adj" fmla="val 50000"/>
            </a:avLst>
          </a:prstGeom>
          <a:solidFill>
            <a:srgbClr val="EEF2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99"/>
                </a:solidFill>
              </a:rPr>
              <a:t>Chemicals</a:t>
            </a:r>
            <a:endParaRPr lang="en-US" sz="1200" dirty="0"/>
          </a:p>
        </p:txBody>
      </p:sp>
      <p:sp>
        <p:nvSpPr>
          <p:cNvPr id="12" name="Stat card 1"/>
          <p:cNvSpPr/>
          <p:nvPr/>
        </p:nvSpPr>
        <p:spPr>
          <a:xfrm>
            <a:off x="6355080" y="164592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83680" y="18745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2003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7432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E1F7"/>
                </a:solidFill>
              </a:rPr>
              <a:t>Year established</a:t>
            </a:r>
            <a:endParaRPr lang="en-US" sz="1300" dirty="0"/>
          </a:p>
        </p:txBody>
      </p:sp>
      <p:sp>
        <p:nvSpPr>
          <p:cNvPr id="15" name="Stat card 2"/>
          <p:cNvSpPr/>
          <p:nvPr/>
        </p:nvSpPr>
        <p:spPr>
          <a:xfrm>
            <a:off x="9052560" y="164592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C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281160" y="18745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F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27432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</a:rPr>
              <a:t>Pharmaceutical facilities consulted &amp; set up</a:t>
            </a:r>
            <a:endParaRPr lang="en-US" sz="1300" dirty="0"/>
          </a:p>
        </p:txBody>
      </p:sp>
      <p:sp>
        <p:nvSpPr>
          <p:cNvPr id="18" name="Stat card 3"/>
          <p:cNvSpPr/>
          <p:nvPr/>
        </p:nvSpPr>
        <p:spPr>
          <a:xfrm>
            <a:off x="6355080" y="388620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C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583680" y="41148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F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13+</a:t>
            </a:r>
            <a:endParaRPr lang="en-US" sz="48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4983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</a:rPr>
              <a:t>Countries with completed projects</a:t>
            </a:r>
            <a:endParaRPr lang="en-US" sz="1300" dirty="0"/>
          </a:p>
        </p:txBody>
      </p:sp>
      <p:sp>
        <p:nvSpPr>
          <p:cNvPr id="21" name="Stat card 4"/>
          <p:cNvSpPr/>
          <p:nvPr/>
        </p:nvSpPr>
        <p:spPr>
          <a:xfrm>
            <a:off x="9052560" y="388620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281160" y="41148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</a:t>
            </a:r>
            <a:endParaRPr lang="en-US" sz="48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4983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E1F7"/>
                </a:solidFill>
              </a:rPr>
              <a:t>9001:2015 certified — Bureau Veritas, UKAS accredited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6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REGULATORY EXPERTISE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Designed to pass global inspections</a:t>
            </a:r>
            <a:endParaRPr lang="en-US" sz="3200" dirty="0"/>
          </a:p>
        </p:txBody>
      </p:sp>
      <p:pic>
        <p:nvPicPr>
          <p:cNvPr id="4" name="3D plant model" descr="/home/claude/jdp/img/i-0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41080" y="1417320"/>
            <a:ext cx="3017520" cy="4754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6002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340"/>
                </a:solidFill>
              </a:rPr>
              <a:t>We invest considerable time and resources to keep our consulting team current with new regulatory requirements, advances in technology and machinery, and process optimisation breakthroughs.</a:t>
            </a:r>
            <a:endParaRPr lang="en-US" sz="1500" dirty="0"/>
          </a:p>
        </p:txBody>
      </p:sp>
      <p:sp>
        <p:nvSpPr>
          <p:cNvPr id="6" name="Regulator USFDA"/>
          <p:cNvSpPr/>
          <p:nvPr/>
        </p:nvSpPr>
        <p:spPr>
          <a:xfrm>
            <a:off x="548640" y="274320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 w="12700">
            <a:solidFill>
              <a:srgbClr val="D5DC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30358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USFDA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520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680"/>
                </a:solidFill>
              </a:rPr>
              <a:t>United States</a:t>
            </a:r>
            <a:endParaRPr lang="en-US" sz="1200" dirty="0"/>
          </a:p>
        </p:txBody>
      </p:sp>
      <p:sp>
        <p:nvSpPr>
          <p:cNvPr id="9" name="Regulator MHRA"/>
          <p:cNvSpPr/>
          <p:nvPr/>
        </p:nvSpPr>
        <p:spPr>
          <a:xfrm>
            <a:off x="2514600" y="274320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C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14600" y="30358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MHRA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2514600" y="3520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680"/>
                </a:solidFill>
              </a:rPr>
              <a:t>United Kingdom</a:t>
            </a:r>
            <a:endParaRPr lang="en-US" sz="1200" dirty="0"/>
          </a:p>
        </p:txBody>
      </p:sp>
      <p:sp>
        <p:nvSpPr>
          <p:cNvPr id="12" name="Regulator EU-GMP"/>
          <p:cNvSpPr/>
          <p:nvPr/>
        </p:nvSpPr>
        <p:spPr>
          <a:xfrm>
            <a:off x="4480560" y="274320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 w="12700">
            <a:solidFill>
              <a:srgbClr val="D5DC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80560" y="30358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EU-GMP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480560" y="3520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680"/>
                </a:solidFill>
              </a:rPr>
              <a:t>European Union</a:t>
            </a:r>
            <a:endParaRPr lang="en-US" sz="1200" dirty="0"/>
          </a:p>
        </p:txBody>
      </p:sp>
      <p:sp>
        <p:nvSpPr>
          <p:cNvPr id="15" name="Regulator WHO-GMP"/>
          <p:cNvSpPr/>
          <p:nvPr/>
        </p:nvSpPr>
        <p:spPr>
          <a:xfrm>
            <a:off x="6446520" y="274320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C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30358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WHO-GMP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3520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680"/>
                </a:solidFill>
              </a:rPr>
              <a:t>World Health Org.</a:t>
            </a:r>
            <a:endParaRPr lang="en-US" sz="1200" dirty="0"/>
          </a:p>
        </p:txBody>
      </p:sp>
      <p:sp>
        <p:nvSpPr>
          <p:cNvPr id="18" name="Regulator TGA"/>
          <p:cNvSpPr/>
          <p:nvPr/>
        </p:nvSpPr>
        <p:spPr>
          <a:xfrm>
            <a:off x="548640" y="434340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CE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46360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TGA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120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680"/>
                </a:solidFill>
              </a:rPr>
              <a:t>Australia</a:t>
            </a:r>
            <a:endParaRPr lang="en-US" sz="1200" dirty="0"/>
          </a:p>
        </p:txBody>
      </p:sp>
      <p:sp>
        <p:nvSpPr>
          <p:cNvPr id="21" name="Regulator ANVISA"/>
          <p:cNvSpPr/>
          <p:nvPr/>
        </p:nvSpPr>
        <p:spPr>
          <a:xfrm>
            <a:off x="2514600" y="434340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 w="12700">
            <a:solidFill>
              <a:srgbClr val="D5DCE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514600" y="46360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ANVISA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2514600" y="5120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680"/>
                </a:solidFill>
              </a:rPr>
              <a:t>Brazil</a:t>
            </a:r>
            <a:endParaRPr lang="en-US" sz="1200" dirty="0"/>
          </a:p>
        </p:txBody>
      </p:sp>
      <p:sp>
        <p:nvSpPr>
          <p:cNvPr id="24" name="Regulator Schedule M"/>
          <p:cNvSpPr/>
          <p:nvPr/>
        </p:nvSpPr>
        <p:spPr>
          <a:xfrm>
            <a:off x="4480560" y="434340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CE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480560" y="46360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M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4480560" y="5120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680"/>
                </a:solidFill>
              </a:rPr>
              <a:t>India</a:t>
            </a:r>
            <a:endParaRPr lang="en-US" sz="1200" dirty="0"/>
          </a:p>
        </p:txBody>
      </p:sp>
      <p:sp>
        <p:nvSpPr>
          <p:cNvPr id="27" name="Regulator cGMP"/>
          <p:cNvSpPr/>
          <p:nvPr/>
        </p:nvSpPr>
        <p:spPr>
          <a:xfrm>
            <a:off x="6446520" y="434340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 w="12700">
            <a:solidFill>
              <a:srgbClr val="D5DCE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46520" y="46360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cGMP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6446520" y="5120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680"/>
                </a:solidFill>
              </a:rPr>
              <a:t>Current GMP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6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sion panel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7C00"/>
                </a:solidFill>
              </a:rPr>
              <a:t>OUR VISION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among the top 3 pharmaceutical consultancies in the world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8E1F7"/>
                </a:solidFill>
              </a:rPr>
              <a:t>— by creating value and providing innovative solutions that reduce cost and turnaround time, without compromising on environmental requirements, while enriching the local community.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394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</a:rPr>
              <a:t>Creating value with smarter solutions — </a:t>
            </a:r>
            <a:pPr indent="0" marL="0">
              <a:buNone/>
            </a:pPr>
            <a:r>
              <a:rPr lang="en-US" sz="1600" b="1" i="1" dirty="0">
                <a:solidFill>
                  <a:srgbClr val="EF7C00"/>
                </a:solidFill>
              </a:rPr>
              <a:t>experience matters.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640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7C00"/>
                </a:solidFill>
              </a:rPr>
              <a:t>WHY JD PHARMA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212080" y="9601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clients work with us</a:t>
            </a:r>
            <a:endParaRPr lang="en-US" sz="3200" dirty="0"/>
          </a:p>
        </p:txBody>
      </p:sp>
      <p:sp>
        <p:nvSpPr>
          <p:cNvPr id="9" name="Icon circle Proven track record"/>
          <p:cNvSpPr/>
          <p:nvPr/>
        </p:nvSpPr>
        <p:spPr>
          <a:xfrm>
            <a:off x="5212080" y="1874520"/>
            <a:ext cx="566928" cy="566928"/>
          </a:xfrm>
          <a:prstGeom prst="ellipse">
            <a:avLst/>
          </a:prstGeom>
          <a:solidFill>
            <a:srgbClr val="003399"/>
          </a:solidFill>
          <a:ln/>
        </p:spPr>
      </p:sp>
      <p:pic>
        <p:nvPicPr>
          <p:cNvPr id="10" name="Icon Proven track recor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8384" y="2020824"/>
            <a:ext cx="274320" cy="274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943600" y="18562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</a:rPr>
              <a:t>Proven track record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943600" y="222199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680"/>
                </a:solidFill>
              </a:rPr>
              <a:t>Two decades of pharma projects delivered since 2003</a:t>
            </a:r>
            <a:endParaRPr lang="en-US" sz="1200" dirty="0"/>
          </a:p>
        </p:txBody>
      </p:sp>
      <p:sp>
        <p:nvSpPr>
          <p:cNvPr id="13" name="Icon circle Regulatory depth"/>
          <p:cNvSpPr/>
          <p:nvPr/>
        </p:nvSpPr>
        <p:spPr>
          <a:xfrm>
            <a:off x="8549640" y="1874520"/>
            <a:ext cx="566928" cy="566928"/>
          </a:xfrm>
          <a:prstGeom prst="ellipse">
            <a:avLst/>
          </a:prstGeom>
          <a:solidFill>
            <a:srgbClr val="EF7C00"/>
          </a:solidFill>
          <a:ln/>
        </p:spPr>
      </p:sp>
      <p:pic>
        <p:nvPicPr>
          <p:cNvPr id="14" name="Icon Regulatory dept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5944" y="2020824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281160" y="18562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</a:rPr>
              <a:t>Regulatory depth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9281160" y="222199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680"/>
                </a:solidFill>
              </a:rPr>
              <a:t>Facilities designed to WHO, GMP, USFDA, MHRA, TGA, ANVISA &amp; Schedule M</a:t>
            </a:r>
            <a:endParaRPr lang="en-US" sz="1200" dirty="0"/>
          </a:p>
        </p:txBody>
      </p:sp>
      <p:sp>
        <p:nvSpPr>
          <p:cNvPr id="17" name="Icon circle Experienced engineers"/>
          <p:cNvSpPr/>
          <p:nvPr/>
        </p:nvSpPr>
        <p:spPr>
          <a:xfrm>
            <a:off x="5212080" y="3337560"/>
            <a:ext cx="566928" cy="566928"/>
          </a:xfrm>
          <a:prstGeom prst="ellipse">
            <a:avLst/>
          </a:prstGeom>
          <a:solidFill>
            <a:srgbClr val="003399"/>
          </a:solidFill>
          <a:ln/>
        </p:spPr>
      </p:sp>
      <p:pic>
        <p:nvPicPr>
          <p:cNvPr id="18" name="Icon Experienced engineer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348386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943600" y="33192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</a:rPr>
              <a:t>Experienced engineers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943600" y="368503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680"/>
                </a:solidFill>
              </a:rPr>
              <a:t>Electrical, mechanical &amp; instrumentation engineers, pharmacists and biopharmacists</a:t>
            </a:r>
            <a:endParaRPr lang="en-US" sz="1200" dirty="0"/>
          </a:p>
        </p:txBody>
      </p:sp>
      <p:sp>
        <p:nvSpPr>
          <p:cNvPr id="21" name="Icon circle Always up to date"/>
          <p:cNvSpPr/>
          <p:nvPr/>
        </p:nvSpPr>
        <p:spPr>
          <a:xfrm>
            <a:off x="8549640" y="3337560"/>
            <a:ext cx="566928" cy="566928"/>
          </a:xfrm>
          <a:prstGeom prst="ellipse">
            <a:avLst/>
          </a:prstGeom>
          <a:solidFill>
            <a:srgbClr val="EF7C00"/>
          </a:solidFill>
          <a:ln/>
        </p:spPr>
      </p:sp>
      <p:pic>
        <p:nvPicPr>
          <p:cNvPr id="22" name="Icon Always up to dat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5944" y="3483864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81160" y="33192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</a:rPr>
              <a:t>Always up to date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9281160" y="368503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680"/>
                </a:solidFill>
              </a:rPr>
              <a:t>In constant sync with process technology and regulatory changes</a:t>
            </a:r>
            <a:endParaRPr lang="en-US" sz="1200" dirty="0"/>
          </a:p>
        </p:txBody>
      </p:sp>
      <p:sp>
        <p:nvSpPr>
          <p:cNvPr id="25" name="Icon circle Tailor-made solutions"/>
          <p:cNvSpPr/>
          <p:nvPr/>
        </p:nvSpPr>
        <p:spPr>
          <a:xfrm>
            <a:off x="5212080" y="4800600"/>
            <a:ext cx="566928" cy="566928"/>
          </a:xfrm>
          <a:prstGeom prst="ellipse">
            <a:avLst/>
          </a:prstGeom>
          <a:solidFill>
            <a:srgbClr val="003399"/>
          </a:solidFill>
          <a:ln/>
        </p:spPr>
      </p:sp>
      <p:pic>
        <p:nvPicPr>
          <p:cNvPr id="26" name="Icon Tailor-made solutions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8384" y="4946904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943600" y="47823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</a:rPr>
              <a:t>Tailor-made solutions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5943600" y="514807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680"/>
                </a:solidFill>
              </a:rPr>
              <a:t>No one size fits all — every design suits your project environment</a:t>
            </a:r>
            <a:endParaRPr lang="en-US" sz="1200" dirty="0"/>
          </a:p>
        </p:txBody>
      </p:sp>
      <p:sp>
        <p:nvSpPr>
          <p:cNvPr id="29" name="Icon circle Turnkey responsibility"/>
          <p:cNvSpPr/>
          <p:nvPr/>
        </p:nvSpPr>
        <p:spPr>
          <a:xfrm>
            <a:off x="8549640" y="4800600"/>
            <a:ext cx="566928" cy="566928"/>
          </a:xfrm>
          <a:prstGeom prst="ellipse">
            <a:avLst/>
          </a:prstGeom>
          <a:solidFill>
            <a:srgbClr val="EF7C00"/>
          </a:solidFill>
          <a:ln/>
        </p:spPr>
      </p:sp>
      <p:pic>
        <p:nvPicPr>
          <p:cNvPr id="30" name="Icon Turnkey responsibility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5944" y="4946904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281160" y="47823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</a:rPr>
              <a:t>Turnkey responsibility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9281160" y="514807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680"/>
                </a:solidFill>
              </a:rPr>
              <a:t>End-to-end ownership from concept to final plant validation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6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TURNKEY APPROACH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One partner from first drawing to validation</a:t>
            </a:r>
            <a:endParaRPr lang="en-US" sz="3200" dirty="0"/>
          </a:p>
        </p:txBody>
      </p:sp>
      <p:sp>
        <p:nvSpPr>
          <p:cNvPr id="4" name="Cycle ring"/>
          <p:cNvSpPr/>
          <p:nvPr/>
        </p:nvSpPr>
        <p:spPr>
          <a:xfrm>
            <a:off x="1828800" y="2148840"/>
            <a:ext cx="3566160" cy="3566160"/>
          </a:xfrm>
          <a:prstGeom prst="ellipse">
            <a:avLst/>
          </a:prstGeom>
          <a:ln w="38100">
            <a:solidFill>
              <a:srgbClr val="D5DCEE"/>
            </a:solidFill>
            <a:prstDash val="dash"/>
          </a:ln>
        </p:spPr>
      </p:sp>
      <p:sp>
        <p:nvSpPr>
          <p:cNvPr id="5" name="Cycle centre"/>
          <p:cNvSpPr/>
          <p:nvPr/>
        </p:nvSpPr>
        <p:spPr>
          <a:xfrm>
            <a:off x="2697480" y="3017520"/>
            <a:ext cx="1828800" cy="1828800"/>
          </a:xfrm>
          <a:prstGeom prst="ellipse">
            <a:avLst/>
          </a:prstGeom>
          <a:solidFill>
            <a:srgbClr val="EEF2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697480" y="30175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TURNKEY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600" dirty="0"/>
          </a:p>
        </p:txBody>
      </p:sp>
      <p:sp>
        <p:nvSpPr>
          <p:cNvPr id="7" name="Step 1"/>
          <p:cNvSpPr/>
          <p:nvPr/>
        </p:nvSpPr>
        <p:spPr>
          <a:xfrm>
            <a:off x="3054096" y="1591056"/>
            <a:ext cx="1115568" cy="1115568"/>
          </a:xfrm>
          <a:prstGeom prst="ellipse">
            <a:avLst/>
          </a:prstGeom>
          <a:solidFill>
            <a:srgbClr val="003399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127248" y="1682496"/>
            <a:ext cx="9692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Project planning &amp; design</a:t>
            </a:r>
            <a:endParaRPr lang="en-US" sz="1400" dirty="0"/>
          </a:p>
        </p:txBody>
      </p:sp>
      <p:sp>
        <p:nvSpPr>
          <p:cNvPr id="9" name="Step 2"/>
          <p:cNvSpPr/>
          <p:nvPr/>
        </p:nvSpPr>
        <p:spPr>
          <a:xfrm>
            <a:off x="4314924" y="2113308"/>
            <a:ext cx="1115568" cy="1115568"/>
          </a:xfrm>
          <a:prstGeom prst="ellipse">
            <a:avLst/>
          </a:prstGeom>
          <a:solidFill>
            <a:srgbClr val="EF7C00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388076" y="2204748"/>
            <a:ext cx="9692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Machine selection</a:t>
            </a:r>
            <a:endParaRPr lang="en-US" sz="1400" dirty="0"/>
          </a:p>
        </p:txBody>
      </p:sp>
      <p:sp>
        <p:nvSpPr>
          <p:cNvPr id="11" name="Step 3"/>
          <p:cNvSpPr/>
          <p:nvPr/>
        </p:nvSpPr>
        <p:spPr>
          <a:xfrm>
            <a:off x="4837176" y="3374136"/>
            <a:ext cx="1115568" cy="1115568"/>
          </a:xfrm>
          <a:prstGeom prst="ellipse">
            <a:avLst/>
          </a:prstGeom>
          <a:solidFill>
            <a:srgbClr val="003399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910328" y="3465576"/>
            <a:ext cx="9692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Tender preparation</a:t>
            </a:r>
            <a:endParaRPr lang="en-US" sz="1400" dirty="0"/>
          </a:p>
        </p:txBody>
      </p:sp>
      <p:sp>
        <p:nvSpPr>
          <p:cNvPr id="13" name="Step 4"/>
          <p:cNvSpPr/>
          <p:nvPr/>
        </p:nvSpPr>
        <p:spPr>
          <a:xfrm>
            <a:off x="4314924" y="4634964"/>
            <a:ext cx="1115568" cy="1115568"/>
          </a:xfrm>
          <a:prstGeom prst="ellipse">
            <a:avLst/>
          </a:prstGeom>
          <a:solidFill>
            <a:srgbClr val="EF7C00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388076" y="4726404"/>
            <a:ext cx="9692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Vendor approval</a:t>
            </a:r>
            <a:endParaRPr lang="en-US" sz="1400" dirty="0"/>
          </a:p>
        </p:txBody>
      </p:sp>
      <p:sp>
        <p:nvSpPr>
          <p:cNvPr id="15" name="Step 5"/>
          <p:cNvSpPr/>
          <p:nvPr/>
        </p:nvSpPr>
        <p:spPr>
          <a:xfrm>
            <a:off x="3054096" y="5157216"/>
            <a:ext cx="1115568" cy="1115568"/>
          </a:xfrm>
          <a:prstGeom prst="ellipse">
            <a:avLst/>
          </a:prstGeom>
          <a:solidFill>
            <a:srgbClr val="003399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127248" y="5248656"/>
            <a:ext cx="9692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Procurement</a:t>
            </a:r>
            <a:endParaRPr lang="en-US" sz="1400" dirty="0"/>
          </a:p>
        </p:txBody>
      </p:sp>
      <p:sp>
        <p:nvSpPr>
          <p:cNvPr id="17" name="Step 6"/>
          <p:cNvSpPr/>
          <p:nvPr/>
        </p:nvSpPr>
        <p:spPr>
          <a:xfrm>
            <a:off x="1793268" y="4634964"/>
            <a:ext cx="1115568" cy="1115568"/>
          </a:xfrm>
          <a:prstGeom prst="ellipse">
            <a:avLst/>
          </a:prstGeom>
          <a:solidFill>
            <a:srgbClr val="EF7C00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866420" y="4726404"/>
            <a:ext cx="9692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Equipment selection</a:t>
            </a:r>
            <a:endParaRPr lang="en-US" sz="1400" dirty="0"/>
          </a:p>
        </p:txBody>
      </p:sp>
      <p:sp>
        <p:nvSpPr>
          <p:cNvPr id="19" name="Step 7"/>
          <p:cNvSpPr/>
          <p:nvPr/>
        </p:nvSpPr>
        <p:spPr>
          <a:xfrm>
            <a:off x="1271016" y="3374136"/>
            <a:ext cx="1115568" cy="1115568"/>
          </a:xfrm>
          <a:prstGeom prst="ellipse">
            <a:avLst/>
          </a:prstGeom>
          <a:solidFill>
            <a:srgbClr val="003399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344168" y="3465576"/>
            <a:ext cx="9692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Testing &amp; commissioning</a:t>
            </a:r>
            <a:endParaRPr lang="en-US" sz="1400" dirty="0"/>
          </a:p>
        </p:txBody>
      </p:sp>
      <p:sp>
        <p:nvSpPr>
          <p:cNvPr id="21" name="Step 8"/>
          <p:cNvSpPr/>
          <p:nvPr/>
        </p:nvSpPr>
        <p:spPr>
          <a:xfrm>
            <a:off x="1793268" y="2113308"/>
            <a:ext cx="1115568" cy="1115568"/>
          </a:xfrm>
          <a:prstGeom prst="ellipse">
            <a:avLst/>
          </a:prstGeom>
          <a:solidFill>
            <a:srgbClr val="EF7C00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866420" y="2204748"/>
            <a:ext cx="9692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Validation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16916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chain is only as strong as its weakest link.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766560" y="2606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D6680"/>
                </a:solidFill>
              </a:rPr>
              <a:t>Our capability ensures every link is covered. We work with you from the planning stage until the plant is validated by the required regulatory authority.</a:t>
            </a:r>
            <a:endParaRPr lang="en-US" sz="1500" dirty="0"/>
          </a:p>
        </p:txBody>
      </p:sp>
      <p:sp>
        <p:nvSpPr>
          <p:cNvPr id="25" name="Phase Plan"/>
          <p:cNvSpPr/>
          <p:nvPr/>
        </p:nvSpPr>
        <p:spPr>
          <a:xfrm>
            <a:off x="6766560" y="3840480"/>
            <a:ext cx="4846320" cy="640080"/>
          </a:xfrm>
          <a:prstGeom prst="roundRect">
            <a:avLst>
              <a:gd name="adj" fmla="val 11429"/>
            </a:avLst>
          </a:prstGeom>
          <a:solidFill>
            <a:srgbClr val="EEF2F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949440" y="3840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99"/>
                </a:solidFill>
              </a:rPr>
              <a:t>Plan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0" y="3840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</a:rPr>
              <a:t>Layouts, capacity, feasibility and design basis</a:t>
            </a:r>
            <a:endParaRPr lang="en-US" sz="1300" dirty="0"/>
          </a:p>
        </p:txBody>
      </p:sp>
      <p:sp>
        <p:nvSpPr>
          <p:cNvPr id="28" name="Phase Build"/>
          <p:cNvSpPr/>
          <p:nvPr/>
        </p:nvSpPr>
        <p:spPr>
          <a:xfrm>
            <a:off x="6766560" y="4617720"/>
            <a:ext cx="4846320" cy="640080"/>
          </a:xfrm>
          <a:prstGeom prst="roundRect">
            <a:avLst>
              <a:gd name="adj" fmla="val 11429"/>
            </a:avLst>
          </a:prstGeom>
          <a:solidFill>
            <a:srgbClr val="EEF2F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949440" y="46177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7C00"/>
                </a:solidFill>
              </a:rPr>
              <a:t>Build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955280" y="4617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</a:rPr>
              <a:t>Tenders, vendor approval, procurement and installation</a:t>
            </a:r>
            <a:endParaRPr lang="en-US" sz="1300" dirty="0"/>
          </a:p>
        </p:txBody>
      </p:sp>
      <p:sp>
        <p:nvSpPr>
          <p:cNvPr id="31" name="Phase Qualify"/>
          <p:cNvSpPr/>
          <p:nvPr/>
        </p:nvSpPr>
        <p:spPr>
          <a:xfrm>
            <a:off x="6766560" y="5394960"/>
            <a:ext cx="4846320" cy="640080"/>
          </a:xfrm>
          <a:prstGeom prst="roundRect">
            <a:avLst>
              <a:gd name="adj" fmla="val 11429"/>
            </a:avLst>
          </a:prstGeom>
          <a:solidFill>
            <a:srgbClr val="EEF2F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949440" y="53949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99"/>
                </a:solidFill>
              </a:rPr>
              <a:t>Qualify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955280" y="53949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</a:rPr>
              <a:t>Testing, commissioning, validation and approval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6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TURNKEY SOLUTIONS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Engineering that starts on the drawing board</a:t>
            </a:r>
            <a:endParaRPr lang="en-US" sz="3200" dirty="0"/>
          </a:p>
        </p:txBody>
      </p:sp>
      <p:sp>
        <p:nvSpPr>
          <p:cNvPr id="4" name="Drawing frame"/>
          <p:cNvSpPr/>
          <p:nvPr/>
        </p:nvSpPr>
        <p:spPr>
          <a:xfrm>
            <a:off x="548640" y="1600200"/>
            <a:ext cx="70408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pic>
        <p:nvPicPr>
          <p:cNvPr id="5" name="GMP floor plan" descr="/home/claude/jdp/assets/floor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37360"/>
            <a:ext cx="6766560" cy="344104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66928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680"/>
                </a:solidFill>
              </a:rPr>
              <a:t>Sample GMP plant layout — zoning, man &amp; material flow and room classification</a:t>
            </a:r>
            <a:endParaRPr lang="en-US" sz="1100" dirty="0"/>
          </a:p>
        </p:txBody>
      </p:sp>
      <p:sp>
        <p:nvSpPr>
          <p:cNvPr id="7" name="Icon circle GMP-compliant layouts"/>
          <p:cNvSpPr/>
          <p:nvPr/>
        </p:nvSpPr>
        <p:spPr>
          <a:xfrm>
            <a:off x="8001000" y="1645920"/>
            <a:ext cx="566928" cy="566928"/>
          </a:xfrm>
          <a:prstGeom prst="ellipse">
            <a:avLst/>
          </a:prstGeom>
          <a:solidFill>
            <a:srgbClr val="003399"/>
          </a:solidFill>
          <a:ln/>
        </p:spPr>
      </p:sp>
      <p:pic>
        <p:nvPicPr>
          <p:cNvPr id="8" name="Icon GMP-compliant layout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304" y="179222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732520" y="16276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0"/>
                </a:solidFill>
              </a:rPr>
              <a:t>GMP-compliant layouts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732520" y="20116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680"/>
                </a:solidFill>
              </a:rPr>
              <a:t>Plant, machine placement and site master plans built for inspection</a:t>
            </a:r>
            <a:endParaRPr lang="en-US" sz="1300" dirty="0"/>
          </a:p>
        </p:txBody>
      </p:sp>
      <p:sp>
        <p:nvSpPr>
          <p:cNvPr id="11" name="Icon circle Multi-discipline coordination"/>
          <p:cNvSpPr/>
          <p:nvPr/>
        </p:nvSpPr>
        <p:spPr>
          <a:xfrm>
            <a:off x="8001000" y="2971800"/>
            <a:ext cx="566928" cy="566928"/>
          </a:xfrm>
          <a:prstGeom prst="ellipse">
            <a:avLst/>
          </a:prstGeom>
          <a:solidFill>
            <a:srgbClr val="EF7C00"/>
          </a:solidFill>
          <a:ln/>
        </p:spPr>
      </p:sp>
      <p:pic>
        <p:nvPicPr>
          <p:cNvPr id="12" name="Icon Multi-discipline coordinati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3118104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732520" y="29535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0"/>
                </a:solidFill>
              </a:rPr>
              <a:t>Multi-discipline coordination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8732520" y="33375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680"/>
                </a:solidFill>
              </a:rPr>
              <a:t>Civil, HVAC, electrical and utility drawings aligned in one design</a:t>
            </a:r>
            <a:endParaRPr lang="en-US" sz="1300" dirty="0"/>
          </a:p>
        </p:txBody>
      </p:sp>
      <p:sp>
        <p:nvSpPr>
          <p:cNvPr id="15" name="Icon circle Fresh, innovative approach"/>
          <p:cNvSpPr/>
          <p:nvPr/>
        </p:nvSpPr>
        <p:spPr>
          <a:xfrm>
            <a:off x="8001000" y="4297680"/>
            <a:ext cx="566928" cy="566928"/>
          </a:xfrm>
          <a:prstGeom prst="ellipse">
            <a:avLst/>
          </a:prstGeom>
          <a:solidFill>
            <a:srgbClr val="003399"/>
          </a:solidFill>
          <a:ln/>
        </p:spPr>
      </p:sp>
      <p:pic>
        <p:nvPicPr>
          <p:cNvPr id="16" name="Icon Fresh, innovative approac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304" y="4443984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732520" y="42793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0"/>
                </a:solidFill>
              </a:rPr>
              <a:t>Fresh, innovative approach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732520" y="46634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680"/>
                </a:solidFill>
              </a:rPr>
              <a:t>Long-term or interim compliance solutions — customised for each project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6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CORE COMPETENCE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Expertise across every key dosage form</a:t>
            </a:r>
            <a:endParaRPr lang="en-US" sz="3200" dirty="0"/>
          </a:p>
        </p:txBody>
      </p:sp>
      <p:sp>
        <p:nvSpPr>
          <p:cNvPr id="4" name="Intro tile"/>
          <p:cNvSpPr/>
          <p:nvPr/>
        </p:nvSpPr>
        <p:spPr>
          <a:xfrm>
            <a:off x="548640" y="1600200"/>
            <a:ext cx="2093976" cy="2331720"/>
          </a:xfrm>
          <a:prstGeom prst="rect">
            <a:avLst/>
          </a:prstGeom>
          <a:solidFill>
            <a:srgbClr val="EF7C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172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06040"/>
            <a:ext cx="17282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pharmaceutical facilities consulted and set up — at both micro and macro level</a:t>
            </a:r>
            <a:endParaRPr lang="en-US" sz="1300" dirty="0"/>
          </a:p>
        </p:txBody>
      </p:sp>
      <p:pic>
        <p:nvPicPr>
          <p:cNvPr id="7" name="Large Volume Parenterals photo" descr="/home/claude/jdp/img/i-00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98064" y="1600200"/>
            <a:ext cx="2093976" cy="1600200"/>
          </a:xfrm>
          <a:prstGeom prst="rect">
            <a:avLst/>
          </a:prstGeom>
        </p:spPr>
      </p:pic>
      <p:sp>
        <p:nvSpPr>
          <p:cNvPr id="8" name="Large Volume Parenterals label"/>
          <p:cNvSpPr/>
          <p:nvPr/>
        </p:nvSpPr>
        <p:spPr>
          <a:xfrm>
            <a:off x="2798064" y="3200400"/>
            <a:ext cx="2093976" cy="731520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07792" y="32004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Large Volume Parenterals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C9D4F2"/>
                </a:solidFill>
              </a:rPr>
              <a:t>LVP / IV fluids</a:t>
            </a:r>
            <a:endParaRPr lang="en-US" sz="1300" dirty="0"/>
          </a:p>
        </p:txBody>
      </p:sp>
      <p:pic>
        <p:nvPicPr>
          <p:cNvPr id="10" name="Small Volume Parenterals photo" descr="/home/claude/jdp/img/i-01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47488" y="1600200"/>
            <a:ext cx="2093976" cy="1600200"/>
          </a:xfrm>
          <a:prstGeom prst="rect">
            <a:avLst/>
          </a:prstGeom>
        </p:spPr>
      </p:pic>
      <p:sp>
        <p:nvSpPr>
          <p:cNvPr id="11" name="Small Volume Parenterals label"/>
          <p:cNvSpPr/>
          <p:nvPr/>
        </p:nvSpPr>
        <p:spPr>
          <a:xfrm>
            <a:off x="5047488" y="3200400"/>
            <a:ext cx="2093976" cy="731520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157216" y="32004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Small Volume Parenterals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C9D4F2"/>
                </a:solidFill>
              </a:rPr>
              <a:t>Vials &amp; ampoules</a:t>
            </a:r>
            <a:endParaRPr lang="en-US" sz="1300" dirty="0"/>
          </a:p>
        </p:txBody>
      </p:sp>
      <p:pic>
        <p:nvPicPr>
          <p:cNvPr id="13" name="Solid Dosages photo" descr="/home/claude/jdp/img/i-005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296912" y="1600200"/>
            <a:ext cx="2093976" cy="1600200"/>
          </a:xfrm>
          <a:prstGeom prst="rect">
            <a:avLst/>
          </a:prstGeom>
        </p:spPr>
      </p:pic>
      <p:sp>
        <p:nvSpPr>
          <p:cNvPr id="14" name="Solid Dosages label"/>
          <p:cNvSpPr/>
          <p:nvPr/>
        </p:nvSpPr>
        <p:spPr>
          <a:xfrm>
            <a:off x="7296912" y="3200400"/>
            <a:ext cx="2093976" cy="731520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7406640" y="32004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Solid Dosages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C9D4F2"/>
                </a:solidFill>
              </a:rPr>
              <a:t>Tablets | Capsules</a:t>
            </a:r>
            <a:endParaRPr lang="en-US" sz="1300" dirty="0"/>
          </a:p>
        </p:txBody>
      </p:sp>
      <p:pic>
        <p:nvPicPr>
          <p:cNvPr id="16" name="Liquid Orals photo" descr="/home/claude/jdp/img/i-007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546336" y="1600200"/>
            <a:ext cx="2093976" cy="1600200"/>
          </a:xfrm>
          <a:prstGeom prst="rect">
            <a:avLst/>
          </a:prstGeom>
        </p:spPr>
      </p:pic>
      <p:sp>
        <p:nvSpPr>
          <p:cNvPr id="17" name="Liquid Orals label"/>
          <p:cNvSpPr/>
          <p:nvPr/>
        </p:nvSpPr>
        <p:spPr>
          <a:xfrm>
            <a:off x="9546336" y="3200400"/>
            <a:ext cx="2093976" cy="731520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9656064" y="32004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Liquid Orals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C9D4F2"/>
                </a:solidFill>
              </a:rPr>
              <a:t>Syrups | Suspensions</a:t>
            </a:r>
            <a:endParaRPr lang="en-US" sz="1300" dirty="0"/>
          </a:p>
        </p:txBody>
      </p:sp>
      <p:pic>
        <p:nvPicPr>
          <p:cNvPr id="19" name="Ointments photo" descr="/home/claude/jdp/img/i-008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48640" y="4087368"/>
            <a:ext cx="2093976" cy="1600200"/>
          </a:xfrm>
          <a:prstGeom prst="rect">
            <a:avLst/>
          </a:prstGeom>
        </p:spPr>
      </p:pic>
      <p:sp>
        <p:nvSpPr>
          <p:cNvPr id="20" name="Ointments label"/>
          <p:cNvSpPr/>
          <p:nvPr/>
        </p:nvSpPr>
        <p:spPr>
          <a:xfrm>
            <a:off x="548640" y="5687568"/>
            <a:ext cx="2093976" cy="731520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21" name="Text 14"/>
          <p:cNvSpPr txBox="1"/>
          <p:nvPr/>
        </p:nvSpPr>
        <p:spPr>
          <a:xfrm>
            <a:off x="658368" y="5687568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Ointments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C9D4F2"/>
                </a:solidFill>
              </a:rPr>
              <a:t>Creams &amp; topicals</a:t>
            </a:r>
            <a:endParaRPr lang="en-US" sz="1300" dirty="0"/>
          </a:p>
        </p:txBody>
      </p:sp>
      <p:pic>
        <p:nvPicPr>
          <p:cNvPr id="22" name="Dry Powder photo" descr="/home/claude/jdp/img/i-009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798064" y="4087368"/>
            <a:ext cx="2093976" cy="1600200"/>
          </a:xfrm>
          <a:prstGeom prst="rect">
            <a:avLst/>
          </a:prstGeom>
        </p:spPr>
      </p:pic>
      <p:sp>
        <p:nvSpPr>
          <p:cNvPr id="23" name="Dry Powder label"/>
          <p:cNvSpPr/>
          <p:nvPr/>
        </p:nvSpPr>
        <p:spPr>
          <a:xfrm>
            <a:off x="2798064" y="5687568"/>
            <a:ext cx="2093976" cy="731520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24" name="Text 16"/>
          <p:cNvSpPr txBox="1"/>
          <p:nvPr/>
        </p:nvSpPr>
        <p:spPr>
          <a:xfrm>
            <a:off x="2907792" y="5687568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Dry Powder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C9D4F2"/>
                </a:solidFill>
              </a:rPr>
              <a:t>Dry powder injectables</a:t>
            </a:r>
            <a:endParaRPr lang="en-US" sz="1300" dirty="0"/>
          </a:p>
        </p:txBody>
      </p:sp>
      <p:pic>
        <p:nvPicPr>
          <p:cNvPr id="25" name="API photo" descr="/home/claude/jdp/img/i-011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047488" y="4087368"/>
            <a:ext cx="2093976" cy="1600200"/>
          </a:xfrm>
          <a:prstGeom prst="rect">
            <a:avLst/>
          </a:prstGeom>
        </p:spPr>
      </p:pic>
      <p:sp>
        <p:nvSpPr>
          <p:cNvPr id="26" name="API label"/>
          <p:cNvSpPr/>
          <p:nvPr/>
        </p:nvSpPr>
        <p:spPr>
          <a:xfrm>
            <a:off x="5047488" y="5687568"/>
            <a:ext cx="2093976" cy="731520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27" name="Text 18"/>
          <p:cNvSpPr txBox="1"/>
          <p:nvPr/>
        </p:nvSpPr>
        <p:spPr>
          <a:xfrm>
            <a:off x="5157216" y="5687568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API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C9D4F2"/>
                </a:solidFill>
              </a:rPr>
              <a:t>Active pharma ingredients</a:t>
            </a:r>
            <a:endParaRPr lang="en-US" sz="1300" dirty="0"/>
          </a:p>
        </p:txBody>
      </p:sp>
      <p:pic>
        <p:nvPicPr>
          <p:cNvPr id="28" name="Medical Devices photo" descr="/home/claude/jdp/img/i-013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296912" y="4087368"/>
            <a:ext cx="2093976" cy="1600200"/>
          </a:xfrm>
          <a:prstGeom prst="rect">
            <a:avLst/>
          </a:prstGeom>
        </p:spPr>
      </p:pic>
      <p:sp>
        <p:nvSpPr>
          <p:cNvPr id="29" name="Medical Devices label"/>
          <p:cNvSpPr/>
          <p:nvPr/>
        </p:nvSpPr>
        <p:spPr>
          <a:xfrm>
            <a:off x="7296912" y="5687568"/>
            <a:ext cx="2093976" cy="731520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30" name="Text 20"/>
          <p:cNvSpPr txBox="1"/>
          <p:nvPr/>
        </p:nvSpPr>
        <p:spPr>
          <a:xfrm>
            <a:off x="7406640" y="5687568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Medical Devices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C9D4F2"/>
                </a:solidFill>
              </a:rPr>
              <a:t>Device manufacturing</a:t>
            </a:r>
            <a:endParaRPr lang="en-US" sz="1300" dirty="0"/>
          </a:p>
        </p:txBody>
      </p:sp>
      <p:pic>
        <p:nvPicPr>
          <p:cNvPr id="31" name="Oncology Products photo" descr="/home/claude/jdp/img/i-014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9546336" y="4087368"/>
            <a:ext cx="2093976" cy="1600200"/>
          </a:xfrm>
          <a:prstGeom prst="rect">
            <a:avLst/>
          </a:prstGeom>
        </p:spPr>
      </p:pic>
      <p:sp>
        <p:nvSpPr>
          <p:cNvPr id="32" name="Oncology Products label"/>
          <p:cNvSpPr/>
          <p:nvPr/>
        </p:nvSpPr>
        <p:spPr>
          <a:xfrm>
            <a:off x="9546336" y="5687568"/>
            <a:ext cx="2093976" cy="731520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33" name="Text 22"/>
          <p:cNvSpPr txBox="1"/>
          <p:nvPr/>
        </p:nvSpPr>
        <p:spPr>
          <a:xfrm>
            <a:off x="9656064" y="5687568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Oncology Products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C9D4F2"/>
                </a:solidFill>
              </a:rPr>
              <a:t>High-potency facilities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6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WHAT WE DO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Seven service lines, one accountable partner</a:t>
            </a:r>
            <a:endParaRPr lang="en-US" sz="3200" dirty="0"/>
          </a:p>
        </p:txBody>
      </p:sp>
      <p:sp>
        <p:nvSpPr>
          <p:cNvPr id="4" name="Service Pharmaceutical Engineering"/>
          <p:cNvSpPr/>
          <p:nvPr/>
        </p:nvSpPr>
        <p:spPr>
          <a:xfrm>
            <a:off x="548640" y="160020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DC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sp>
        <p:nvSpPr>
          <p:cNvPr id="5" name="Icon circle Pharmaceutical Engineering"/>
          <p:cNvSpPr/>
          <p:nvPr/>
        </p:nvSpPr>
        <p:spPr>
          <a:xfrm>
            <a:off x="822960" y="1874520"/>
            <a:ext cx="566928" cy="566928"/>
          </a:xfrm>
          <a:prstGeom prst="ellipse">
            <a:avLst/>
          </a:prstGeom>
          <a:solidFill>
            <a:srgbClr val="003399"/>
          </a:solidFill>
          <a:ln/>
        </p:spPr>
      </p:sp>
      <p:pic>
        <p:nvPicPr>
          <p:cNvPr id="6" name="Icon Pharmaceutical Engineerin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020824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560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</a:rPr>
              <a:t>Pharmaceutical Engineering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063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680"/>
                </a:solidFill>
              </a:rPr>
              <a:t>Plant layout, civil, HVAC, electrical, utility and cleanroom design</a:t>
            </a:r>
            <a:endParaRPr lang="en-US" sz="1200" dirty="0"/>
          </a:p>
        </p:txBody>
      </p:sp>
      <p:sp>
        <p:nvSpPr>
          <p:cNvPr id="9" name="Service Project Management Consulting"/>
          <p:cNvSpPr/>
          <p:nvPr/>
        </p:nvSpPr>
        <p:spPr>
          <a:xfrm>
            <a:off x="3383280" y="160020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DC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sp>
        <p:nvSpPr>
          <p:cNvPr id="10" name="Icon circle Project Management Consulting"/>
          <p:cNvSpPr/>
          <p:nvPr/>
        </p:nvSpPr>
        <p:spPr>
          <a:xfrm>
            <a:off x="3657600" y="1874520"/>
            <a:ext cx="566928" cy="566928"/>
          </a:xfrm>
          <a:prstGeom prst="ellipse">
            <a:avLst/>
          </a:prstGeom>
          <a:solidFill>
            <a:srgbClr val="EF7C00"/>
          </a:solidFill>
          <a:ln/>
        </p:spPr>
      </p:sp>
      <p:pic>
        <p:nvPicPr>
          <p:cNvPr id="11" name="Icon Project Management Consultin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904" y="202082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57600" y="2560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</a:rPr>
              <a:t>Project Management Consulting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3063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680"/>
                </a:solidFill>
              </a:rPr>
              <a:t>Schedules, tenders, vendors and site coordination to handover</a:t>
            </a:r>
            <a:endParaRPr lang="en-US" sz="1200" dirty="0"/>
          </a:p>
        </p:txBody>
      </p:sp>
      <p:sp>
        <p:nvSpPr>
          <p:cNvPr id="14" name="Service Plant Documentation"/>
          <p:cNvSpPr/>
          <p:nvPr/>
        </p:nvSpPr>
        <p:spPr>
          <a:xfrm>
            <a:off x="6217920" y="160020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DC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sp>
        <p:nvSpPr>
          <p:cNvPr id="15" name="Icon circle Plant Documentation"/>
          <p:cNvSpPr/>
          <p:nvPr/>
        </p:nvSpPr>
        <p:spPr>
          <a:xfrm>
            <a:off x="6492240" y="1874520"/>
            <a:ext cx="566928" cy="566928"/>
          </a:xfrm>
          <a:prstGeom prst="ellipse">
            <a:avLst/>
          </a:prstGeom>
          <a:solidFill>
            <a:srgbClr val="003399"/>
          </a:solidFill>
          <a:ln/>
        </p:spPr>
      </p:sp>
      <p:pic>
        <p:nvPicPr>
          <p:cNvPr id="16" name="Icon Plant Documentati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202082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92240" y="2560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</a:rPr>
              <a:t>Plant Documentation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492240" y="3063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680"/>
                </a:solidFill>
              </a:rPr>
              <a:t>SOPs, site master file, qualification and validation documents</a:t>
            </a:r>
            <a:endParaRPr lang="en-US" sz="1200" dirty="0"/>
          </a:p>
        </p:txBody>
      </p:sp>
      <p:sp>
        <p:nvSpPr>
          <p:cNvPr id="19" name="Service Plant Operation Management"/>
          <p:cNvSpPr/>
          <p:nvPr/>
        </p:nvSpPr>
        <p:spPr>
          <a:xfrm>
            <a:off x="9052560" y="160020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DC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sp>
        <p:nvSpPr>
          <p:cNvPr id="20" name="Icon circle Plant Operation Management"/>
          <p:cNvSpPr/>
          <p:nvPr/>
        </p:nvSpPr>
        <p:spPr>
          <a:xfrm>
            <a:off x="9326880" y="1874520"/>
            <a:ext cx="566928" cy="566928"/>
          </a:xfrm>
          <a:prstGeom prst="ellipse">
            <a:avLst/>
          </a:prstGeom>
          <a:solidFill>
            <a:srgbClr val="EF7C00"/>
          </a:solidFill>
          <a:ln/>
        </p:spPr>
      </p:sp>
      <p:pic>
        <p:nvPicPr>
          <p:cNvPr id="21" name="Icon Plant Operation Managemen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184" y="202082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26880" y="2560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</a:rPr>
              <a:t>Plant Operation Management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326880" y="3063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680"/>
                </a:solidFill>
              </a:rPr>
              <a:t>Operational support to run plants efficiently and inspection-ready</a:t>
            </a:r>
            <a:endParaRPr lang="en-US" sz="1200" dirty="0"/>
          </a:p>
        </p:txBody>
      </p:sp>
      <p:sp>
        <p:nvSpPr>
          <p:cNvPr id="24" name="Service Turnkey Project Services"/>
          <p:cNvSpPr/>
          <p:nvPr/>
        </p:nvSpPr>
        <p:spPr>
          <a:xfrm>
            <a:off x="548640" y="397764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DC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sp>
        <p:nvSpPr>
          <p:cNvPr id="25" name="Icon circle Turnkey Project Services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003399"/>
          </a:solidFill>
          <a:ln/>
        </p:spPr>
      </p:sp>
      <p:pic>
        <p:nvPicPr>
          <p:cNvPr id="26" name="Icon Turnkey Project Services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4398264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22960" y="4937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</a:rPr>
              <a:t>Turnkey Project Services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822960" y="5440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680"/>
                </a:solidFill>
              </a:rPr>
              <a:t>End-to-end delivery from concept to a validated plant</a:t>
            </a:r>
            <a:endParaRPr lang="en-US" sz="1200" dirty="0"/>
          </a:p>
        </p:txBody>
      </p:sp>
      <p:sp>
        <p:nvSpPr>
          <p:cNvPr id="29" name="Service Third-Party Audit Services"/>
          <p:cNvSpPr/>
          <p:nvPr/>
        </p:nvSpPr>
        <p:spPr>
          <a:xfrm>
            <a:off x="3383280" y="397764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DC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sp>
        <p:nvSpPr>
          <p:cNvPr id="30" name="Icon circle Third-Party Audit Services"/>
          <p:cNvSpPr/>
          <p:nvPr/>
        </p:nvSpPr>
        <p:spPr>
          <a:xfrm>
            <a:off x="3657600" y="4251960"/>
            <a:ext cx="566928" cy="566928"/>
          </a:xfrm>
          <a:prstGeom prst="ellipse">
            <a:avLst/>
          </a:prstGeom>
          <a:solidFill>
            <a:srgbClr val="EF7C00"/>
          </a:solidFill>
          <a:ln/>
        </p:spPr>
      </p:sp>
      <p:pic>
        <p:nvPicPr>
          <p:cNvPr id="31" name="Icon Third-Party Audit Services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3904" y="4398264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657600" y="4937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</a:rPr>
              <a:t>Third-Party Audit Services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3657600" y="5440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680"/>
                </a:solidFill>
              </a:rPr>
              <a:t>Independent GMP audits and gap assessments</a:t>
            </a:r>
            <a:endParaRPr lang="en-US" sz="1200" dirty="0"/>
          </a:p>
        </p:txBody>
      </p:sp>
      <p:sp>
        <p:nvSpPr>
          <p:cNvPr id="34" name="Service Global Regulatory Compliance"/>
          <p:cNvSpPr/>
          <p:nvPr/>
        </p:nvSpPr>
        <p:spPr>
          <a:xfrm>
            <a:off x="6217920" y="397764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DC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sp>
        <p:nvSpPr>
          <p:cNvPr id="35" name="Icon circle Global Regulatory Compliance"/>
          <p:cNvSpPr/>
          <p:nvPr/>
        </p:nvSpPr>
        <p:spPr>
          <a:xfrm>
            <a:off x="6492240" y="4251960"/>
            <a:ext cx="566928" cy="566928"/>
          </a:xfrm>
          <a:prstGeom prst="ellipse">
            <a:avLst/>
          </a:prstGeom>
          <a:solidFill>
            <a:srgbClr val="003399"/>
          </a:solidFill>
          <a:ln/>
        </p:spPr>
      </p:sp>
      <p:pic>
        <p:nvPicPr>
          <p:cNvPr id="36" name="Icon Global Regulatory Complianc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8544" y="4398264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492240" y="4937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</a:rPr>
              <a:t>Global Regulatory Compliance</a:t>
            </a:r>
            <a:endParaRPr lang="en-US" sz="1500" dirty="0"/>
          </a:p>
        </p:txBody>
      </p:sp>
      <p:sp>
        <p:nvSpPr>
          <p:cNvPr id="38" name="Text 29"/>
          <p:cNvSpPr txBox="1"/>
          <p:nvPr/>
        </p:nvSpPr>
        <p:spPr>
          <a:xfrm>
            <a:off x="6492240" y="5440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680"/>
                </a:solidFill>
              </a:rPr>
              <a:t>USFDA, WHO-GMP and EU-GMP consulting and facility design</a:t>
            </a:r>
            <a:endParaRPr lang="en-US" sz="1200" dirty="0"/>
          </a:p>
        </p:txBody>
      </p:sp>
      <p:sp>
        <p:nvSpPr>
          <p:cNvPr id="39" name="Disciplines tile"/>
          <p:cNvSpPr/>
          <p:nvPr/>
        </p:nvSpPr>
        <p:spPr>
          <a:xfrm>
            <a:off x="9052560" y="397764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003399"/>
          </a:solidFill>
          <a:ln/>
        </p:spPr>
      </p:sp>
      <p:sp>
        <p:nvSpPr>
          <p:cNvPr id="40" name="Text 31"/>
          <p:cNvSpPr txBox="1"/>
          <p:nvPr/>
        </p:nvSpPr>
        <p:spPr>
          <a:xfrm>
            <a:off x="9326880" y="4206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F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800" dirty="0"/>
          </a:p>
        </p:txBody>
      </p:sp>
      <p:sp>
        <p:nvSpPr>
          <p:cNvPr id="41" name="Text 32"/>
          <p:cNvSpPr txBox="1"/>
          <p:nvPr/>
        </p:nvSpPr>
        <p:spPr>
          <a:xfrm>
            <a:off x="9326880" y="50292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engineering disciplines delivered in-house — detailed on the next slides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6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ENGINEERING DISCIPLINES  1/3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Plant &amp; building design</a:t>
            </a:r>
            <a:endParaRPr lang="en-US" sz="3200" dirty="0"/>
          </a:p>
        </p:txBody>
      </p:sp>
      <p:sp>
        <p:nvSpPr>
          <p:cNvPr id="4" name="Discipline Plant Layout Design"/>
          <p:cNvSpPr/>
          <p:nvPr/>
        </p:nvSpPr>
        <p:spPr>
          <a:xfrm>
            <a:off x="548640" y="1600200"/>
            <a:ext cx="5440680" cy="2267712"/>
          </a:xfrm>
          <a:prstGeom prst="roundRect">
            <a:avLst>
              <a:gd name="adj" fmla="val 4032"/>
            </a:avLst>
          </a:prstGeom>
          <a:solidFill>
            <a:srgbClr val="EEF2FB"/>
          </a:solidFill>
          <a:ln w="12700">
            <a:solidFill>
              <a:srgbClr val="D5DCEE"/>
            </a:solidFill>
            <a:prstDash val="solid"/>
          </a:ln>
        </p:spPr>
      </p:sp>
      <p:sp>
        <p:nvSpPr>
          <p:cNvPr id="5" name="Icon circle Plant Layout Design"/>
          <p:cNvSpPr/>
          <p:nvPr/>
        </p:nvSpPr>
        <p:spPr>
          <a:xfrm>
            <a:off x="822960" y="1874520"/>
            <a:ext cx="566928" cy="566928"/>
          </a:xfrm>
          <a:prstGeom prst="ellipse">
            <a:avLst/>
          </a:prstGeom>
          <a:solidFill>
            <a:srgbClr val="003399"/>
          </a:solidFill>
          <a:ln/>
        </p:spPr>
      </p:sp>
      <p:pic>
        <p:nvPicPr>
          <p:cNvPr id="6" name="Icon Plant Layout Desig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020824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7452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99"/>
                </a:solidFill>
              </a:rPr>
              <a:t>Plant Layout Design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514600"/>
            <a:ext cx="41605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</a:rPr>
              <a:t>Layouts per USFDA, MHRA, TGA, WHO-GMP, cGMP &amp; Schedule M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</a:rPr>
              <a:t>Man &amp; material flow and machine placement drawings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</a:rPr>
              <a:t>Site plans with expansion, utility and admin blocks</a:t>
            </a:r>
            <a:endParaRPr lang="en-US" sz="1300" dirty="0"/>
          </a:p>
        </p:txBody>
      </p:sp>
      <p:sp>
        <p:nvSpPr>
          <p:cNvPr id="9" name="Discipline Civil Design"/>
          <p:cNvSpPr/>
          <p:nvPr/>
        </p:nvSpPr>
        <p:spPr>
          <a:xfrm>
            <a:off x="6263640" y="1600200"/>
            <a:ext cx="5440680" cy="2267712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 w="12700">
            <a:solidFill>
              <a:srgbClr val="D5DCEE"/>
            </a:solidFill>
            <a:prstDash val="solid"/>
          </a:ln>
        </p:spPr>
      </p:sp>
      <p:sp>
        <p:nvSpPr>
          <p:cNvPr id="10" name="Icon circle Civil Design"/>
          <p:cNvSpPr/>
          <p:nvPr/>
        </p:nvSpPr>
        <p:spPr>
          <a:xfrm>
            <a:off x="6537960" y="1874520"/>
            <a:ext cx="566928" cy="566928"/>
          </a:xfrm>
          <a:prstGeom prst="ellipse">
            <a:avLst/>
          </a:prstGeom>
          <a:solidFill>
            <a:srgbClr val="EF7C00"/>
          </a:solidFill>
          <a:ln/>
        </p:spPr>
      </p:sp>
      <p:pic>
        <p:nvPicPr>
          <p:cNvPr id="11" name="Icon Civil Desig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264" y="202082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187452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99"/>
                </a:solidFill>
              </a:rPr>
              <a:t>Civil Design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269480" y="2514600"/>
            <a:ext cx="41605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</a:rPr>
              <a:t>Architectural &amp; structural drawings of the plant building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</a:rPr>
              <a:t>BOQ, estimates and floor, wall &amp; ceiling specifications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</a:rPr>
              <a:t>Cleanroom partition specs, tenders and vendor selection</a:t>
            </a:r>
            <a:endParaRPr lang="en-US" sz="1300" dirty="0"/>
          </a:p>
        </p:txBody>
      </p:sp>
      <p:sp>
        <p:nvSpPr>
          <p:cNvPr id="14" name="Discipline Electrical Engineering"/>
          <p:cNvSpPr/>
          <p:nvPr/>
        </p:nvSpPr>
        <p:spPr>
          <a:xfrm>
            <a:off x="548640" y="4069080"/>
            <a:ext cx="5440680" cy="2267712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 w="12700">
            <a:solidFill>
              <a:srgbClr val="D5DCEE"/>
            </a:solidFill>
            <a:prstDash val="solid"/>
          </a:ln>
        </p:spPr>
      </p:sp>
      <p:sp>
        <p:nvSpPr>
          <p:cNvPr id="15" name="Icon circle Electrical Engineering"/>
          <p:cNvSpPr/>
          <p:nvPr/>
        </p:nvSpPr>
        <p:spPr>
          <a:xfrm>
            <a:off x="822960" y="4343400"/>
            <a:ext cx="566928" cy="566928"/>
          </a:xfrm>
          <a:prstGeom prst="ellipse">
            <a:avLst/>
          </a:prstGeom>
          <a:solidFill>
            <a:srgbClr val="003399"/>
          </a:solidFill>
          <a:ln/>
        </p:spPr>
      </p:sp>
      <p:pic>
        <p:nvPicPr>
          <p:cNvPr id="16" name="Icon Electrical Engineerin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48970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34340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99"/>
                </a:solidFill>
              </a:rPr>
              <a:t>Electrical Engineering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983480"/>
            <a:ext cx="41605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</a:rPr>
              <a:t>Complete power distribution and HT yard design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</a:rPr>
              <a:t>SLDs, earthing, cable &amp; cable-tray layouts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</a:rPr>
              <a:t>Specs for panels, transformers, DG sets, MCC/PCC, VFDs, UPS</a:t>
            </a:r>
            <a:endParaRPr lang="en-US" sz="1300" dirty="0"/>
          </a:p>
        </p:txBody>
      </p:sp>
      <p:sp>
        <p:nvSpPr>
          <p:cNvPr id="19" name="Discipline Utility Design"/>
          <p:cNvSpPr/>
          <p:nvPr/>
        </p:nvSpPr>
        <p:spPr>
          <a:xfrm>
            <a:off x="6263640" y="4069080"/>
            <a:ext cx="5440680" cy="2267712"/>
          </a:xfrm>
          <a:prstGeom prst="roundRect">
            <a:avLst>
              <a:gd name="adj" fmla="val 4032"/>
            </a:avLst>
          </a:prstGeom>
          <a:solidFill>
            <a:srgbClr val="EEF2FB"/>
          </a:solidFill>
          <a:ln w="12700">
            <a:solidFill>
              <a:srgbClr val="D5DCEE"/>
            </a:solidFill>
            <a:prstDash val="solid"/>
          </a:ln>
        </p:spPr>
      </p:sp>
      <p:sp>
        <p:nvSpPr>
          <p:cNvPr id="20" name="Icon circle Utility Design"/>
          <p:cNvSpPr/>
          <p:nvPr/>
        </p:nvSpPr>
        <p:spPr>
          <a:xfrm>
            <a:off x="6537960" y="4343400"/>
            <a:ext cx="566928" cy="566928"/>
          </a:xfrm>
          <a:prstGeom prst="ellipse">
            <a:avLst/>
          </a:prstGeom>
          <a:solidFill>
            <a:srgbClr val="EF7C00"/>
          </a:solidFill>
          <a:ln/>
        </p:spPr>
      </p:sp>
      <p:pic>
        <p:nvPicPr>
          <p:cNvPr id="21" name="Icon Utility Desig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48970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69480" y="434340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99"/>
                </a:solidFill>
              </a:rPr>
              <a:t>Utility Design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7269480" y="4983480"/>
            <a:ext cx="41605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</a:rPr>
              <a:t>Purified water, WFI, compressed air, vacuum, gas, CIP &amp; SIP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</a:rPr>
              <a:t>P&amp;IDs for water generation &amp; distribution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</a:rPr>
              <a:t>BOQ, procurement and approval of vendor drawings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6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ENGINEERING DISCIPLINES  2/3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Clean environments &amp; process</a:t>
            </a:r>
            <a:endParaRPr lang="en-US" sz="3200" dirty="0"/>
          </a:p>
        </p:txBody>
      </p:sp>
      <p:sp>
        <p:nvSpPr>
          <p:cNvPr id="4" name="Discipline HVAC"/>
          <p:cNvSpPr/>
          <p:nvPr/>
        </p:nvSpPr>
        <p:spPr>
          <a:xfrm>
            <a:off x="548640" y="1600200"/>
            <a:ext cx="5440680" cy="2267712"/>
          </a:xfrm>
          <a:prstGeom prst="roundRect">
            <a:avLst>
              <a:gd name="adj" fmla="val 4032"/>
            </a:avLst>
          </a:prstGeom>
          <a:solidFill>
            <a:srgbClr val="EEF2FB"/>
          </a:solidFill>
          <a:ln w="12700">
            <a:solidFill>
              <a:srgbClr val="D5DCEE"/>
            </a:solidFill>
            <a:prstDash val="solid"/>
          </a:ln>
        </p:spPr>
      </p:sp>
      <p:sp>
        <p:nvSpPr>
          <p:cNvPr id="5" name="Icon circle HVAC"/>
          <p:cNvSpPr/>
          <p:nvPr/>
        </p:nvSpPr>
        <p:spPr>
          <a:xfrm>
            <a:off x="822960" y="1874520"/>
            <a:ext cx="566928" cy="566928"/>
          </a:xfrm>
          <a:prstGeom prst="ellipse">
            <a:avLst/>
          </a:prstGeom>
          <a:solidFill>
            <a:srgbClr val="003399"/>
          </a:solidFill>
          <a:ln/>
        </p:spPr>
      </p:sp>
      <p:pic>
        <p:nvPicPr>
          <p:cNvPr id="6" name="Icon HVA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020824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7452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99"/>
                </a:solidFill>
              </a:rPr>
              <a:t>HVAC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514600"/>
            <a:ext cx="41605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</a:rPr>
              <a:t>Air-flow diagrams, AHU piping &amp; ducting layouts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</a:rPr>
              <a:t>AHU grouping, filtration, room classification, pressure zoning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</a:rPr>
              <a:t>DQ, BOQ, GA drawings, RCP and HVAC tendering</a:t>
            </a:r>
            <a:endParaRPr lang="en-US" sz="1300" dirty="0"/>
          </a:p>
        </p:txBody>
      </p:sp>
      <p:sp>
        <p:nvSpPr>
          <p:cNvPr id="9" name="Discipline Cleanroom Design"/>
          <p:cNvSpPr/>
          <p:nvPr/>
        </p:nvSpPr>
        <p:spPr>
          <a:xfrm>
            <a:off x="6263640" y="1600200"/>
            <a:ext cx="5440680" cy="2267712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 w="12700">
            <a:solidFill>
              <a:srgbClr val="D5DCEE"/>
            </a:solidFill>
            <a:prstDash val="solid"/>
          </a:ln>
        </p:spPr>
      </p:sp>
      <p:sp>
        <p:nvSpPr>
          <p:cNvPr id="10" name="Icon circle Cleanroom Design"/>
          <p:cNvSpPr/>
          <p:nvPr/>
        </p:nvSpPr>
        <p:spPr>
          <a:xfrm>
            <a:off x="6537960" y="1874520"/>
            <a:ext cx="566928" cy="566928"/>
          </a:xfrm>
          <a:prstGeom prst="ellipse">
            <a:avLst/>
          </a:prstGeom>
          <a:solidFill>
            <a:srgbClr val="EF7C00"/>
          </a:solidFill>
          <a:ln/>
        </p:spPr>
      </p:sp>
      <p:pic>
        <p:nvPicPr>
          <p:cNvPr id="11" name="Icon Cleanroom Desig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264" y="202082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187452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99"/>
                </a:solidFill>
              </a:rPr>
              <a:t>Cleanroom Design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269480" y="2514600"/>
            <a:ext cx="41605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</a:rPr>
              <a:t>Cleanrooms from ISO Class 1 to Class 9 (FS209E 1–100,000)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</a:rPr>
              <a:t>Modular walls, walkable ceilings, doors, windows &amp; lighting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</a:rPr>
              <a:t>Specifications, BOQ, tenders and vendor selection</a:t>
            </a:r>
            <a:endParaRPr lang="en-US" sz="1300" dirty="0"/>
          </a:p>
        </p:txBody>
      </p:sp>
      <p:sp>
        <p:nvSpPr>
          <p:cNvPr id="14" name="Discipline Capacity Design &amp; Machinery"/>
          <p:cNvSpPr/>
          <p:nvPr/>
        </p:nvSpPr>
        <p:spPr>
          <a:xfrm>
            <a:off x="548640" y="4069080"/>
            <a:ext cx="5440680" cy="2267712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 w="12700">
            <a:solidFill>
              <a:srgbClr val="D5DCEE"/>
            </a:solidFill>
            <a:prstDash val="solid"/>
          </a:ln>
        </p:spPr>
      </p:sp>
      <p:sp>
        <p:nvSpPr>
          <p:cNvPr id="15" name="Icon circle Capacity Design &amp; Machinery"/>
          <p:cNvSpPr/>
          <p:nvPr/>
        </p:nvSpPr>
        <p:spPr>
          <a:xfrm>
            <a:off x="822960" y="4343400"/>
            <a:ext cx="566928" cy="566928"/>
          </a:xfrm>
          <a:prstGeom prst="ellipse">
            <a:avLst/>
          </a:prstGeom>
          <a:solidFill>
            <a:srgbClr val="003399"/>
          </a:solidFill>
          <a:ln/>
        </p:spPr>
      </p:sp>
      <p:pic>
        <p:nvPicPr>
          <p:cNvPr id="16" name="Icon Capacity Design &amp; Machinery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48970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34340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99"/>
                </a:solidFill>
              </a:rPr>
              <a:t>Capacity Design &amp; Machinery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983480"/>
            <a:ext cx="41605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</a:rPr>
              <a:t>Productivity-based machinery selection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</a:rPr>
              <a:t>URS for machinery, lab instruments &amp; utilities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</a:rPr>
              <a:t>Tender documents, quotations and vendor selection</a:t>
            </a:r>
            <a:endParaRPr lang="en-US" sz="1300" dirty="0"/>
          </a:p>
        </p:txBody>
      </p:sp>
      <p:sp>
        <p:nvSpPr>
          <p:cNvPr id="19" name="Discipline Plant Safety Engineering"/>
          <p:cNvSpPr/>
          <p:nvPr/>
        </p:nvSpPr>
        <p:spPr>
          <a:xfrm>
            <a:off x="6263640" y="4069080"/>
            <a:ext cx="5440680" cy="2267712"/>
          </a:xfrm>
          <a:prstGeom prst="roundRect">
            <a:avLst>
              <a:gd name="adj" fmla="val 4032"/>
            </a:avLst>
          </a:prstGeom>
          <a:solidFill>
            <a:srgbClr val="EEF2FB"/>
          </a:solidFill>
          <a:ln w="12700">
            <a:solidFill>
              <a:srgbClr val="D5DCEE"/>
            </a:solidFill>
            <a:prstDash val="solid"/>
          </a:ln>
        </p:spPr>
      </p:sp>
      <p:sp>
        <p:nvSpPr>
          <p:cNvPr id="20" name="Icon circle Plant Safety Engineering"/>
          <p:cNvSpPr/>
          <p:nvPr/>
        </p:nvSpPr>
        <p:spPr>
          <a:xfrm>
            <a:off x="6537960" y="4343400"/>
            <a:ext cx="566928" cy="566928"/>
          </a:xfrm>
          <a:prstGeom prst="ellipse">
            <a:avLst/>
          </a:prstGeom>
          <a:solidFill>
            <a:srgbClr val="EF7C00"/>
          </a:solidFill>
          <a:ln/>
        </p:spPr>
      </p:sp>
      <p:pic>
        <p:nvPicPr>
          <p:cNvPr id="21" name="Icon Plant Safety Engineerin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48970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69480" y="434340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99"/>
                </a:solidFill>
              </a:rPr>
              <a:t>Plant Safety Engineering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7269480" y="4983480"/>
            <a:ext cx="41605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</a:rPr>
              <a:t>Product, personnel, spill, dust &amp; static-discharge safety plans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</a:rPr>
              <a:t>Fire / smoke detection and protection design philosophy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</a:rPr>
              <a:t>Fire water tank, hydrant and sprinkler systems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6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ENGINEERING DISCIPLINES  3/3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Compliance, environment &amp; feasibility</a:t>
            </a:r>
            <a:endParaRPr lang="en-US" sz="3200" dirty="0"/>
          </a:p>
        </p:txBody>
      </p:sp>
      <p:sp>
        <p:nvSpPr>
          <p:cNvPr id="4" name="Discipline Environmental Engineering"/>
          <p:cNvSpPr/>
          <p:nvPr/>
        </p:nvSpPr>
        <p:spPr>
          <a:xfrm>
            <a:off x="548640" y="1600200"/>
            <a:ext cx="5440680" cy="2267712"/>
          </a:xfrm>
          <a:prstGeom prst="roundRect">
            <a:avLst>
              <a:gd name="adj" fmla="val 4032"/>
            </a:avLst>
          </a:prstGeom>
          <a:solidFill>
            <a:srgbClr val="EEF2FB"/>
          </a:solidFill>
          <a:ln w="12700">
            <a:solidFill>
              <a:srgbClr val="D5DCEE"/>
            </a:solidFill>
            <a:prstDash val="solid"/>
          </a:ln>
        </p:spPr>
      </p:sp>
      <p:sp>
        <p:nvSpPr>
          <p:cNvPr id="5" name="Icon circle Environmental Engineering"/>
          <p:cNvSpPr/>
          <p:nvPr/>
        </p:nvSpPr>
        <p:spPr>
          <a:xfrm>
            <a:off x="822960" y="1874520"/>
            <a:ext cx="566928" cy="566928"/>
          </a:xfrm>
          <a:prstGeom prst="ellipse">
            <a:avLst/>
          </a:prstGeom>
          <a:solidFill>
            <a:srgbClr val="003399"/>
          </a:solidFill>
          <a:ln/>
        </p:spPr>
      </p:sp>
      <p:pic>
        <p:nvPicPr>
          <p:cNvPr id="6" name="Icon Environmental Engineerin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020824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7452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99"/>
                </a:solidFill>
              </a:rPr>
              <a:t>Environmental Engineering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514600"/>
            <a:ext cx="41605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</a:rPr>
              <a:t>Effluent identification and complete ETP system design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</a:rPr>
              <a:t>Scrubbers / incinerators for exhaust air handling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</a:rPr>
              <a:t>Solid &amp; liquid waste disposal, air and noise pollution control</a:t>
            </a:r>
            <a:endParaRPr lang="en-US" sz="1300" dirty="0"/>
          </a:p>
        </p:txBody>
      </p:sp>
      <p:sp>
        <p:nvSpPr>
          <p:cNvPr id="9" name="Discipline cGMP Compliance"/>
          <p:cNvSpPr/>
          <p:nvPr/>
        </p:nvSpPr>
        <p:spPr>
          <a:xfrm>
            <a:off x="6263640" y="1600200"/>
            <a:ext cx="5440680" cy="2267712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 w="12700">
            <a:solidFill>
              <a:srgbClr val="D5DCEE"/>
            </a:solidFill>
            <a:prstDash val="solid"/>
          </a:ln>
        </p:spPr>
      </p:sp>
      <p:sp>
        <p:nvSpPr>
          <p:cNvPr id="10" name="Icon circle cGMP Compliance"/>
          <p:cNvSpPr/>
          <p:nvPr/>
        </p:nvSpPr>
        <p:spPr>
          <a:xfrm>
            <a:off x="6537960" y="1874520"/>
            <a:ext cx="566928" cy="566928"/>
          </a:xfrm>
          <a:prstGeom prst="ellipse">
            <a:avLst/>
          </a:prstGeom>
          <a:solidFill>
            <a:srgbClr val="EF7C00"/>
          </a:solidFill>
          <a:ln/>
        </p:spPr>
      </p:sp>
      <p:pic>
        <p:nvPicPr>
          <p:cNvPr id="11" name="Icon cGMP Complianc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264" y="202082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187452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99"/>
                </a:solidFill>
              </a:rPr>
              <a:t>cGMP Compliance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269480" y="2514600"/>
            <a:ext cx="41605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</a:rPr>
              <a:t>Alteration &amp; addition plans to make existing plants cGMP-compliant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</a:rPr>
              <a:t>SOPs, site master file and validation documentation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</a:rPr>
              <a:t>Readiness for regulatory inspections</a:t>
            </a:r>
            <a:endParaRPr lang="en-US" sz="1300" dirty="0"/>
          </a:p>
        </p:txBody>
      </p:sp>
      <p:sp>
        <p:nvSpPr>
          <p:cNvPr id="14" name="Discipline Feasibility Study Reports"/>
          <p:cNvSpPr/>
          <p:nvPr/>
        </p:nvSpPr>
        <p:spPr>
          <a:xfrm>
            <a:off x="548640" y="4069080"/>
            <a:ext cx="5440680" cy="2267712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 w="12700">
            <a:solidFill>
              <a:srgbClr val="D5DCEE"/>
            </a:solidFill>
            <a:prstDash val="solid"/>
          </a:ln>
        </p:spPr>
      </p:sp>
      <p:sp>
        <p:nvSpPr>
          <p:cNvPr id="15" name="Icon circle Feasibility Study Reports"/>
          <p:cNvSpPr/>
          <p:nvPr/>
        </p:nvSpPr>
        <p:spPr>
          <a:xfrm>
            <a:off x="822960" y="4343400"/>
            <a:ext cx="566928" cy="566928"/>
          </a:xfrm>
          <a:prstGeom prst="ellipse">
            <a:avLst/>
          </a:prstGeom>
          <a:solidFill>
            <a:srgbClr val="003399"/>
          </a:solidFill>
          <a:ln/>
        </p:spPr>
      </p:sp>
      <p:pic>
        <p:nvPicPr>
          <p:cNvPr id="16" name="Icon Feasibility Study Report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48970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34340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99"/>
                </a:solidFill>
              </a:rPr>
              <a:t>Feasibility Study Reports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983480"/>
            <a:ext cx="41605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</a:rPr>
              <a:t>Executive summary and product description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</a:rPr>
              <a:t>Plant technical details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</a:rPr>
              <a:t>Market analysis and financial analysis</a:t>
            </a:r>
            <a:endParaRPr lang="en-US" sz="1300" dirty="0"/>
          </a:p>
        </p:txBody>
      </p:sp>
      <p:sp>
        <p:nvSpPr>
          <p:cNvPr id="19" name="Discipline Turnkey Services"/>
          <p:cNvSpPr/>
          <p:nvPr/>
        </p:nvSpPr>
        <p:spPr>
          <a:xfrm>
            <a:off x="6263640" y="4069080"/>
            <a:ext cx="5440680" cy="2267712"/>
          </a:xfrm>
          <a:prstGeom prst="roundRect">
            <a:avLst>
              <a:gd name="adj" fmla="val 4032"/>
            </a:avLst>
          </a:prstGeom>
          <a:solidFill>
            <a:srgbClr val="EEF2FB"/>
          </a:solidFill>
          <a:ln w="12700">
            <a:solidFill>
              <a:srgbClr val="D5DCEE"/>
            </a:solidFill>
            <a:prstDash val="solid"/>
          </a:ln>
        </p:spPr>
      </p:sp>
      <p:sp>
        <p:nvSpPr>
          <p:cNvPr id="20" name="Icon circle Turnkey Services"/>
          <p:cNvSpPr/>
          <p:nvPr/>
        </p:nvSpPr>
        <p:spPr>
          <a:xfrm>
            <a:off x="6537960" y="4343400"/>
            <a:ext cx="566928" cy="566928"/>
          </a:xfrm>
          <a:prstGeom prst="ellipse">
            <a:avLst/>
          </a:prstGeom>
          <a:solidFill>
            <a:srgbClr val="EF7C00"/>
          </a:solidFill>
          <a:ln/>
        </p:spPr>
      </p:sp>
      <p:pic>
        <p:nvPicPr>
          <p:cNvPr id="21" name="Icon Turnkey Service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48970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69480" y="434340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99"/>
                </a:solidFill>
              </a:rPr>
              <a:t>Turnkey Services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7269480" y="4983480"/>
            <a:ext cx="41605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</a:rPr>
              <a:t>Complete end-to-end services for pharma projects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</a:rPr>
              <a:t>From conceptualisation to project handover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</a:rPr>
              <a:t>Almost all key areas under a single scope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6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SELECTED PROJECTS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Trusted from California to Riyadh</a:t>
            </a:r>
            <a:endParaRPr lang="en-US" sz="3200" dirty="0"/>
          </a:p>
        </p:txBody>
      </p:sp>
      <p:sp>
        <p:nvSpPr>
          <p:cNvPr id="4" name="Project Hakeem Pharma"/>
          <p:cNvSpPr/>
          <p:nvPr/>
        </p:nvSpPr>
        <p:spPr>
          <a:xfrm>
            <a:off x="548640" y="164592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5DC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C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99"/>
                </a:solidFill>
              </a:rPr>
              <a:t>Hakeem Pharma</a:t>
            </a:r>
            <a:endParaRPr lang="en-US" sz="1800" dirty="0"/>
          </a:p>
        </p:txBody>
      </p:sp>
      <p:pic>
        <p:nvPicPr>
          <p:cNvPr id="7" name="Pin Hakeem Pharm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825496"/>
            <a:ext cx="182880" cy="1828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78992" y="27614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7C00"/>
                </a:solidFill>
              </a:rPr>
              <a:t>Riyadh, Saudi Arabia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1272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</a:rPr>
              <a:t>Engineering design of a pharmaceutical plant</a:t>
            </a:r>
            <a:endParaRPr lang="en-US" sz="1300" dirty="0"/>
          </a:p>
        </p:txBody>
      </p:sp>
      <p:sp>
        <p:nvSpPr>
          <p:cNvPr id="10" name="Project Doctors Company"/>
          <p:cNvSpPr/>
          <p:nvPr/>
        </p:nvSpPr>
        <p:spPr>
          <a:xfrm>
            <a:off x="4315968" y="164592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5DC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590288" y="18745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C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4590288" y="2331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99"/>
                </a:solidFill>
              </a:rPr>
              <a:t>Doctors Company</a:t>
            </a:r>
            <a:endParaRPr lang="en-US" sz="1800" dirty="0"/>
          </a:p>
        </p:txBody>
      </p:sp>
      <p:pic>
        <p:nvPicPr>
          <p:cNvPr id="13" name="Pin Doctors Company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2825496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846320" y="27614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7C00"/>
                </a:solidFill>
              </a:rPr>
              <a:t>Jeddah, Saudi Arabia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590288" y="31272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</a:rPr>
              <a:t>Oral solid dosage (OSD) manufacturing plant</a:t>
            </a:r>
            <a:endParaRPr lang="en-US" sz="1300" dirty="0"/>
          </a:p>
        </p:txBody>
      </p:sp>
      <p:sp>
        <p:nvSpPr>
          <p:cNvPr id="16" name="Project NutraWest, Inc."/>
          <p:cNvSpPr/>
          <p:nvPr/>
        </p:nvSpPr>
        <p:spPr>
          <a:xfrm>
            <a:off x="8083296" y="164592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5DC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357616" y="18745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C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4"/>
          <p:cNvSpPr txBox="1"/>
          <p:nvPr/>
        </p:nvSpPr>
        <p:spPr>
          <a:xfrm>
            <a:off x="8357616" y="2331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99"/>
                </a:solidFill>
              </a:rPr>
              <a:t>NutraWest, Inc.</a:t>
            </a:r>
            <a:endParaRPr lang="en-US" sz="1800" dirty="0"/>
          </a:p>
        </p:txBody>
      </p:sp>
      <p:pic>
        <p:nvPicPr>
          <p:cNvPr id="19" name="Pin NutraWest, Inc.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2825496"/>
            <a:ext cx="182880" cy="18288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613648" y="27614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7C00"/>
                </a:solidFill>
              </a:rPr>
              <a:t>California, USA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357616" y="31272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</a:rPr>
              <a:t>Nutraceutical manufacturing project</a:t>
            </a:r>
            <a:endParaRPr lang="en-US" sz="1300" dirty="0"/>
          </a:p>
        </p:txBody>
      </p:sp>
      <p:sp>
        <p:nvSpPr>
          <p:cNvPr id="22" name="Project Becton Dickinson"/>
          <p:cNvSpPr/>
          <p:nvPr/>
        </p:nvSpPr>
        <p:spPr>
          <a:xfrm>
            <a:off x="548640" y="3995928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5DC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822960" y="422452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C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19"/>
          <p:cNvSpPr txBox="1"/>
          <p:nvPr/>
        </p:nvSpPr>
        <p:spPr>
          <a:xfrm>
            <a:off x="822960" y="46817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99"/>
                </a:solidFill>
              </a:rPr>
              <a:t>Becton Dickinson</a:t>
            </a:r>
            <a:endParaRPr lang="en-US" sz="1800" dirty="0"/>
          </a:p>
        </p:txBody>
      </p:sp>
      <p:pic>
        <p:nvPicPr>
          <p:cNvPr id="25" name="Pin Becton Dickins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75504"/>
            <a:ext cx="182880" cy="18288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078992" y="51114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7C00"/>
                </a:solidFill>
              </a:rPr>
              <a:t>Bawal, Haryana, India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822960" y="547725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</a:rPr>
              <a:t>Cleanroom 7 — HVAC, electrical and validation</a:t>
            </a:r>
            <a:endParaRPr lang="en-US" sz="1300" dirty="0"/>
          </a:p>
        </p:txBody>
      </p:sp>
      <p:sp>
        <p:nvSpPr>
          <p:cNvPr id="28" name="Project Simfa Labs Pvt. Ltd."/>
          <p:cNvSpPr/>
          <p:nvPr/>
        </p:nvSpPr>
        <p:spPr>
          <a:xfrm>
            <a:off x="4315968" y="3995928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5DC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sp>
        <p:nvSpPr>
          <p:cNvPr id="29" name="Text 23"/>
          <p:cNvSpPr txBox="1"/>
          <p:nvPr/>
        </p:nvSpPr>
        <p:spPr>
          <a:xfrm>
            <a:off x="4590288" y="422452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C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Text 24"/>
          <p:cNvSpPr txBox="1"/>
          <p:nvPr/>
        </p:nvSpPr>
        <p:spPr>
          <a:xfrm>
            <a:off x="4590288" y="46817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99"/>
                </a:solidFill>
              </a:rPr>
              <a:t>Simfa Labs Pvt. Ltd.</a:t>
            </a:r>
            <a:endParaRPr lang="en-US" sz="1800" dirty="0"/>
          </a:p>
        </p:txBody>
      </p:sp>
      <p:pic>
        <p:nvPicPr>
          <p:cNvPr id="31" name="Pin Simfa Labs Pvt. Ltd.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288" y="5175504"/>
            <a:ext cx="182880" cy="18288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4846320" y="51114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7C00"/>
                </a:solidFill>
              </a:rPr>
              <a:t>Pithampur, India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4590288" y="547725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</a:rPr>
              <a:t>Pharmaceutical manufacturing unit</a:t>
            </a:r>
            <a:endParaRPr lang="en-US" sz="1300" dirty="0"/>
          </a:p>
        </p:txBody>
      </p:sp>
      <p:sp>
        <p:nvSpPr>
          <p:cNvPr id="34" name="Project IIIM (CSIR)"/>
          <p:cNvSpPr/>
          <p:nvPr/>
        </p:nvSpPr>
        <p:spPr>
          <a:xfrm>
            <a:off x="8083296" y="3995928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5DC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sp>
        <p:nvSpPr>
          <p:cNvPr id="35" name="Text 28"/>
          <p:cNvSpPr txBox="1"/>
          <p:nvPr/>
        </p:nvSpPr>
        <p:spPr>
          <a:xfrm>
            <a:off x="8357616" y="422452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C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36" name="Text 29"/>
          <p:cNvSpPr txBox="1"/>
          <p:nvPr/>
        </p:nvSpPr>
        <p:spPr>
          <a:xfrm>
            <a:off x="8357616" y="46817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99"/>
                </a:solidFill>
              </a:rPr>
              <a:t>IIIM (CSIR)</a:t>
            </a:r>
            <a:endParaRPr lang="en-US" sz="1800" dirty="0"/>
          </a:p>
        </p:txBody>
      </p:sp>
      <p:pic>
        <p:nvPicPr>
          <p:cNvPr id="37" name="Pin IIIM (CSIR)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7616" y="5175504"/>
            <a:ext cx="182880" cy="18288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8613648" y="51114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7C00"/>
                </a:solidFill>
              </a:rPr>
              <a:t>Pithampur, India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8357616" y="547725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</a:rPr>
              <a:t>Manufacturing unit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6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GLOBAL PRESENCE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Projects delivered in 13+ countries</a:t>
            </a:r>
            <a:endParaRPr lang="en-US" sz="3200" dirty="0"/>
          </a:p>
        </p:txBody>
      </p:sp>
      <p:pic>
        <p:nvPicPr>
          <p:cNvPr id="4" name="World map" descr="/home/claude/jdp/assets/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7589520" cy="4394409"/>
          </a:xfrm>
          <a:prstGeom prst="rect">
            <a:avLst/>
          </a:prstGeom>
        </p:spPr>
      </p:pic>
      <p:sp>
        <p:nvSpPr>
          <p:cNvPr id="5" name="Regions panel"/>
          <p:cNvSpPr/>
          <p:nvPr/>
        </p:nvSpPr>
        <p:spPr>
          <a:xfrm>
            <a:off x="8275320" y="1600200"/>
            <a:ext cx="3383280" cy="4526280"/>
          </a:xfrm>
          <a:prstGeom prst="roundRect">
            <a:avLst>
              <a:gd name="adj" fmla="val 2703"/>
            </a:avLst>
          </a:prstGeom>
          <a:solidFill>
            <a:srgbClr val="EEF2F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54964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7C00"/>
                </a:solidFill>
              </a:rPr>
              <a:t>AMERICAS &amp; EUROPE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212140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40"/>
                </a:solidFill>
              </a:rPr>
              <a:t>USA  •  Slovakia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49640" y="2880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7C00"/>
                </a:solidFill>
              </a:rPr>
              <a:t>MIDDLE EAST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549640" y="317296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40"/>
                </a:solidFill>
              </a:rPr>
              <a:t>Saudi Arabia  •  UAE  •  Qatar  •  Iraq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549640" y="3931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7C00"/>
                </a:solidFill>
              </a:rPr>
              <a:t>ASIA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549640" y="422452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40"/>
                </a:solidFill>
              </a:rPr>
              <a:t>India  •  Afghanistan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340"/>
                </a:solidFill>
              </a:rPr>
              <a:t>Pakistan  •  Sri Lanka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549640" y="4983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7C00"/>
                </a:solidFill>
              </a:rPr>
              <a:t>AFRICA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549640" y="527608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40"/>
                </a:solidFill>
              </a:rPr>
              <a:t>Nigeria  •  Ghana  •  Uganda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6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OUR CLIENTS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40+ clients in India and worldwide</a:t>
            </a:r>
            <a:endParaRPr lang="en-US" sz="3200" dirty="0"/>
          </a:p>
        </p:txBody>
      </p:sp>
      <p:sp>
        <p:nvSpPr>
          <p:cNvPr id="4" name="International panel"/>
          <p:cNvSpPr/>
          <p:nvPr/>
        </p:nvSpPr>
        <p:spPr>
          <a:xfrm>
            <a:off x="548640" y="160020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EEF2FB"/>
          </a:solidFill>
          <a:ln w="12700">
            <a:solidFill>
              <a:srgbClr val="D5DC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99"/>
                </a:solidFill>
              </a:rPr>
              <a:t>International</a:t>
            </a:r>
            <a:pPr indent="0" marL="0">
              <a:buNone/>
            </a:pPr>
            <a:r>
              <a:rPr lang="en-US" sz="1200" b="1" dirty="0">
                <a:solidFill>
                  <a:srgbClr val="5D6680"/>
                </a:solidFill>
              </a:rPr>
              <a:t>   18 clients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23774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Arab Chemist Co. — Saudi Arabia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Hakeem Pharma — Saudi Arabia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Omar Ban Taha Alsaggaf Factory — Saudi Arabia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Pharmacare Leading Mfg. Co. — Saudi Arabia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Doctors Company — Saudi Arabia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Global Pharma LLC — Dubai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White Star Pharma Solutions — Iraq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Zavita Pharma — Iraq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Life Pearl Pharmaceuticals — Afghanistan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331720"/>
            <a:ext cx="23774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GalaxyPharma — Pakistan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Sands Active (MelwaPharma) — Sri Lanka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Invapharm Inc. — USA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NutraWest, Inc. — USA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Best Green Lab — Slovakia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Dony Triumph &amp; Co. — Nigeria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Hyenang Pharmaceuticals — Nigeria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Kendick Pharmacy — Ghana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Kimsy Meds — Uganda</a:t>
            </a:r>
            <a:endParaRPr lang="en-US" sz="1200" dirty="0"/>
          </a:p>
        </p:txBody>
      </p:sp>
      <p:sp>
        <p:nvSpPr>
          <p:cNvPr id="8" name="India panel"/>
          <p:cNvSpPr/>
          <p:nvPr/>
        </p:nvSpPr>
        <p:spPr>
          <a:xfrm>
            <a:off x="6217920" y="1600200"/>
            <a:ext cx="544068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C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78308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7C00"/>
                </a:solidFill>
              </a:rPr>
              <a:t>India</a:t>
            </a:r>
            <a:pPr indent="0" marL="0">
              <a:buNone/>
            </a:pPr>
            <a:r>
              <a:rPr lang="en-US" sz="1200" b="1" dirty="0">
                <a:solidFill>
                  <a:srgbClr val="5D6680"/>
                </a:solidFill>
              </a:rPr>
              <a:t>   22 clients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331720"/>
            <a:ext cx="23545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BectonDickinson India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CSIR – IIIM, Jammu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Kronox Lab Sciences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Advanced Enzymes Technologies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Nitika Pharmaceutical Specialties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Accra Pac India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Bliss Lifesciences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PRICON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Bharat Explosive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Apollo International, New Delhi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Glumex Pharmaceuticals, Mumbai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938260" y="2331720"/>
            <a:ext cx="23545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Govt. Opium &amp; Alkaloids Works, Neemuch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Arihant Chemicals, Ratlam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India Phosphate, Ujjain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Hindustan Phosphate, Pithampur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DJ Laboratories, Pithampur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Namokar Speciality Chemicals, Pithampur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Simfa Labs, Pithampur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Sanctus Drugs &amp; Pharma, Pithampur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Zenith Drugs, Indore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Pricon Surgicals, Jodhpur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340"/>
                </a:solidFill>
              </a:rPr>
              <a:t>Sagar Rubber Products, Mehsana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6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line art" descr="/home/claude/jdp/assets/lineart_navy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" descr="/home/claude/jdp/assets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2194560" cy="986163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1828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your next compliant facility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2697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7C00"/>
                </a:solidFill>
              </a:rPr>
              <a:t>From feasibility to validation — talk to our team today.</a:t>
            </a:r>
            <a:endParaRPr lang="en-US" sz="1800" dirty="0"/>
          </a:p>
        </p:txBody>
      </p:sp>
      <p:sp>
        <p:nvSpPr>
          <p:cNvPr id="6" name="Head Office — Indore card"/>
          <p:cNvSpPr/>
          <p:nvPr/>
        </p:nvSpPr>
        <p:spPr>
          <a:xfrm>
            <a:off x="640080" y="3840480"/>
            <a:ext cx="42062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91440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7C00"/>
                </a:solidFill>
              </a:rPr>
              <a:t>HEAD OFFICE — INDORE</a:t>
            </a:r>
            <a:endParaRPr lang="en-US" sz="1100" dirty="0"/>
          </a:p>
        </p:txBody>
      </p:sp>
      <p:pic>
        <p:nvPicPr>
          <p:cNvPr id="8" name="Head Office — Indore icon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425696"/>
            <a:ext cx="182880" cy="1828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07008" y="43891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</a:rPr>
              <a:t>501 &amp; 503, 5th Floor, Fortune Business Centre, R.N.T. Marg, Indore, M.P. 452001</a:t>
            </a:r>
            <a:endParaRPr lang="en-US" sz="1300" dirty="0"/>
          </a:p>
        </p:txBody>
      </p:sp>
      <p:pic>
        <p:nvPicPr>
          <p:cNvPr id="10" name="Head Office — Indore icon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367528"/>
            <a:ext cx="182880" cy="18288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207008" y="5330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</a:rPr>
              <a:t>+91 731 4043825  |  +91 72230 68942</a:t>
            </a:r>
            <a:endParaRPr lang="en-US" sz="1300" dirty="0"/>
          </a:p>
        </p:txBody>
      </p:sp>
      <p:pic>
        <p:nvPicPr>
          <p:cNvPr id="12" name="Head Office — Indore icon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705856"/>
            <a:ext cx="182880" cy="18288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207008" y="5669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</a:rPr>
              <a:t>info@jdpharmaconsultants.co.in</a:t>
            </a:r>
            <a:endParaRPr lang="en-US" sz="1300" dirty="0"/>
          </a:p>
        </p:txBody>
      </p:sp>
      <p:sp>
        <p:nvSpPr>
          <p:cNvPr id="14" name="Branch Office — Ahmedabad card"/>
          <p:cNvSpPr/>
          <p:nvPr/>
        </p:nvSpPr>
        <p:spPr>
          <a:xfrm>
            <a:off x="5029200" y="3840480"/>
            <a:ext cx="42062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</p:spPr>
      </p:sp>
      <p:sp>
        <p:nvSpPr>
          <p:cNvPr id="15" name="Text 8"/>
          <p:cNvSpPr txBox="1"/>
          <p:nvPr/>
        </p:nvSpPr>
        <p:spPr>
          <a:xfrm>
            <a:off x="530352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7C00"/>
                </a:solidFill>
              </a:rPr>
              <a:t>BRANCH OFFICE — AHMEDABAD</a:t>
            </a:r>
            <a:endParaRPr lang="en-US" sz="1100" dirty="0"/>
          </a:p>
        </p:txBody>
      </p:sp>
      <p:pic>
        <p:nvPicPr>
          <p:cNvPr id="16" name="Branch Office — Ahmedabad icon 0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4425696"/>
            <a:ext cx="182880" cy="18288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5596128" y="43891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</a:rPr>
              <a:t>507, Shilp Aperia, Iscon–Ambli Road, near Landmark Hotel, Ahmedabad, Gujarat 380052</a:t>
            </a:r>
            <a:endParaRPr lang="en-US" sz="1300" dirty="0"/>
          </a:p>
        </p:txBody>
      </p:sp>
      <p:pic>
        <p:nvPicPr>
          <p:cNvPr id="18" name="Branch Office — Ahmedabad icon 1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5367528"/>
            <a:ext cx="182880" cy="182880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5596128" y="5330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</a:rPr>
              <a:t>+91 2717 416683</a:t>
            </a:r>
            <a:endParaRPr lang="en-US" sz="1300" dirty="0"/>
          </a:p>
        </p:txBody>
      </p:sp>
      <p:pic>
        <p:nvPicPr>
          <p:cNvPr id="20" name="Branch Office — Ahmedabad icon 2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0" y="5705856"/>
            <a:ext cx="182880" cy="182880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5596128" y="5669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</a:rPr>
              <a:t>www.jdpharmaconsultants.co.in</a:t>
            </a:r>
            <a:endParaRPr lang="en-US" sz="1300" dirty="0"/>
          </a:p>
        </p:txBody>
      </p:sp>
      <p:sp>
        <p:nvSpPr>
          <p:cNvPr id="22" name="QR card"/>
          <p:cNvSpPr/>
          <p:nvPr/>
        </p:nvSpPr>
        <p:spPr>
          <a:xfrm>
            <a:off x="9601200" y="3840480"/>
            <a:ext cx="2011680" cy="22402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pic>
        <p:nvPicPr>
          <p:cNvPr id="23" name="Website QR code" descr="/home/claude/jdp/assets/q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75520" y="4023360"/>
            <a:ext cx="1463040" cy="1423229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9601200" y="5577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680"/>
                </a:solidFill>
              </a:rPr>
              <a:t>Scan to visit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D Pharma">
  <a:themeElements>
    <a:clrScheme name="JD Pharma">
      <a:dk1>
        <a:srgbClr val="1B2340"/>
      </a:dk1>
      <a:lt1>
        <a:srgbClr val="FFFFFF"/>
      </a:lt1>
      <a:dk2>
        <a:srgbClr val="001F66"/>
      </a:dk2>
      <a:lt2>
        <a:srgbClr val="EEF2FB"/>
      </a:lt2>
      <a:accent1>
        <a:srgbClr val="003399"/>
      </a:accent1>
      <a:accent2>
        <a:srgbClr val="EF7C00"/>
      </a:accent2>
      <a:accent3>
        <a:srgbClr val="2F5BD3"/>
      </a:accent3>
      <a:accent4>
        <a:srgbClr val="F5A54A"/>
      </a:accent4>
      <a:accent5>
        <a:srgbClr val="5D6680"/>
      </a:accent5>
      <a:accent6>
        <a:srgbClr val="7A8FC7"/>
      </a:accent6>
      <a:hlink>
        <a:srgbClr val="003399"/>
      </a:hlink>
      <a:folHlink>
        <a:srgbClr val="6B4FBF"/>
      </a:folHlink>
    </a:clrScheme>
    <a:fontScheme name="JD Pharm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JD Pharma Consultants Pvt.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JD Pharma Consultants — Corporate Presentation</dc:title>
  <dc:subject>PptxGenJS Presentation</dc:subject>
  <dc:creator>DS Technoverse</dc:creator>
  <cp:lastModifiedBy>DS Technoverse</cp:lastModifiedBy>
  <cp:revision>1</cp:revision>
  <dcterms:created xsi:type="dcterms:W3CDTF">2026-10-09T10:09:09Z</dcterms:created>
  <dcterms:modified xsi:type="dcterms:W3CDTF">2026-10-09T10:09:09Z</dcterms:modified>
</cp:coreProperties>
</file>