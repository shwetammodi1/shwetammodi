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one of the EUSP queue dashboard. Sample data only — the layout and column set are what we need Jay to sign off before we build in Helix.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481328"/>
            <a:ext cx="146304" cy="146304"/>
          </a:xfrm>
          <a:prstGeom prst="rect">
            <a:avLst/>
          </a:prstGeom>
          <a:solidFill>
            <a:srgbClr val="FE500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93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CONCEPT · DRAFT v0.1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04672" y="18745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EUSP Operations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04672" y="26700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E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Command Centre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3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Helix view over every EUSP assignment group — built to answer one question each morning: where is work about to breach, and who is not holding any.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5440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groups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88920" y="4800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788920" y="5440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— AP · AM · EU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94960" y="4800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394960" y="5440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towers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6144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EUSP Service Operations  ·  draft for review  ·  23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4340"/>
            <a:ext cx="91440" cy="91440"/>
          </a:xfrm>
          <a:prstGeom prst="rect">
            <a:avLst/>
          </a:prstGeom>
          <a:solidFill>
            <a:srgbClr val="FE50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queues, grouped the way we work them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drives the shift that owns the queue; tower drives who can actually resolve the ticket.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queue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01952"/>
            <a:ext cx="3657600" cy="841248"/>
          </a:xfrm>
          <a:prstGeom prst="roundRect">
            <a:avLst>
              <a:gd name="adj" fmla="val 4348"/>
            </a:avLst>
          </a:prstGeom>
          <a:solidFill>
            <a:srgbClr val="F2F5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2249424"/>
            <a:ext cx="128016" cy="128016"/>
          </a:xfrm>
          <a:prstGeom prst="ellipse">
            <a:avLst/>
          </a:prstGeom>
          <a:solidFill>
            <a:srgbClr val="0B6BB4"/>
          </a:solidFill>
          <a:ln/>
        </p:spPr>
      </p:sp>
      <p:sp>
        <p:nvSpPr>
          <p:cNvPr id="10" name="Text 8"/>
          <p:cNvSpPr/>
          <p:nvPr/>
        </p:nvSpPr>
        <p:spPr>
          <a:xfrm>
            <a:off x="923544" y="202996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AP-IC-EUSP - EUSP OPERATIONS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23544" y="232257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EUSP Operations · L1/L2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34840" y="14813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24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901952"/>
            <a:ext cx="3657600" cy="841248"/>
          </a:xfrm>
          <a:prstGeom prst="roundRect">
            <a:avLst>
              <a:gd name="adj" fmla="val 4348"/>
            </a:avLst>
          </a:prstGeom>
          <a:solidFill>
            <a:srgbClr val="F2F5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36008" y="2249424"/>
            <a:ext cx="128016" cy="128016"/>
          </a:xfrm>
          <a:prstGeom prst="ellipse">
            <a:avLst/>
          </a:prstGeom>
          <a:solidFill>
            <a:srgbClr val="6247AA"/>
          </a:solidFill>
          <a:ln/>
        </p:spPr>
      </p:sp>
      <p:sp>
        <p:nvSpPr>
          <p:cNvPr id="16" name="Text 14"/>
          <p:cNvSpPr/>
          <p:nvPr/>
        </p:nvSpPr>
        <p:spPr>
          <a:xfrm>
            <a:off x="4855464" y="202996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AM-IC-EUSP - MDM Support L2 AM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55464" y="232257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/ MDM · L2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34840" y="2871216"/>
            <a:ext cx="3657600" cy="841248"/>
          </a:xfrm>
          <a:prstGeom prst="roundRect">
            <a:avLst>
              <a:gd name="adj" fmla="val 4348"/>
            </a:avLst>
          </a:prstGeom>
          <a:solidFill>
            <a:srgbClr val="F2F5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36008" y="3218688"/>
            <a:ext cx="128016" cy="128016"/>
          </a:xfrm>
          <a:prstGeom prst="ellipse">
            <a:avLst/>
          </a:prstGeom>
          <a:solidFill>
            <a:srgbClr val="6247AA"/>
          </a:solidFill>
          <a:ln/>
        </p:spPr>
      </p:sp>
      <p:sp>
        <p:nvSpPr>
          <p:cNvPr id="20" name="Text 18"/>
          <p:cNvSpPr/>
          <p:nvPr/>
        </p:nvSpPr>
        <p:spPr>
          <a:xfrm>
            <a:off x="4855464" y="299923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AM-IC-EUSP - MEM Support L3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55464" y="329184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/ MEM · L3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34840" y="3840480"/>
            <a:ext cx="3657600" cy="841248"/>
          </a:xfrm>
          <a:prstGeom prst="roundRect">
            <a:avLst>
              <a:gd name="adj" fmla="val 4348"/>
            </a:avLst>
          </a:prstGeom>
          <a:solidFill>
            <a:srgbClr val="F2F5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36008" y="4187952"/>
            <a:ext cx="128016" cy="128016"/>
          </a:xfrm>
          <a:prstGeom prst="ellipse">
            <a:avLst/>
          </a:prstGeom>
          <a:solidFill>
            <a:srgbClr val="6247AA"/>
          </a:solidFill>
          <a:ln/>
        </p:spPr>
      </p:sp>
      <p:sp>
        <p:nvSpPr>
          <p:cNvPr id="24" name="Text 22"/>
          <p:cNvSpPr/>
          <p:nvPr/>
        </p:nvSpPr>
        <p:spPr>
          <a:xfrm>
            <a:off x="4855464" y="3968496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AM-IC-EUSP - W365 Support L3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55464" y="426110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365 · L3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34840" y="4809744"/>
            <a:ext cx="3657600" cy="841248"/>
          </a:xfrm>
          <a:prstGeom prst="roundRect">
            <a:avLst>
              <a:gd name="adj" fmla="val 4348"/>
            </a:avLst>
          </a:prstGeom>
          <a:solidFill>
            <a:srgbClr val="F2F5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6008" y="5157216"/>
            <a:ext cx="128016" cy="128016"/>
          </a:xfrm>
          <a:prstGeom prst="ellipse">
            <a:avLst/>
          </a:prstGeom>
          <a:solidFill>
            <a:srgbClr val="6247AA"/>
          </a:solidFill>
          <a:ln/>
        </p:spPr>
      </p:sp>
      <p:sp>
        <p:nvSpPr>
          <p:cNvPr id="28" name="Text 26"/>
          <p:cNvSpPr/>
          <p:nvPr/>
        </p:nvSpPr>
        <p:spPr>
          <a:xfrm>
            <a:off x="4855464" y="493776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AM-IC-EUSP - SCCM Support L3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55464" y="523036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SCCM / MECM · L3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66760" y="14813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52560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queues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66760" y="1901952"/>
            <a:ext cx="3657600" cy="841248"/>
          </a:xfrm>
          <a:prstGeom prst="roundRect">
            <a:avLst>
              <a:gd name="adj" fmla="val 4348"/>
            </a:avLst>
          </a:prstGeom>
          <a:solidFill>
            <a:srgbClr val="F2F5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67928" y="2249424"/>
            <a:ext cx="128016" cy="128016"/>
          </a:xfrm>
          <a:prstGeom prst="ellipse">
            <a:avLst/>
          </a:prstGeom>
          <a:solidFill>
            <a:srgbClr val="0F7C8A"/>
          </a:solidFill>
          <a:ln/>
        </p:spPr>
      </p:sp>
      <p:sp>
        <p:nvSpPr>
          <p:cNvPr id="34" name="Text 32"/>
          <p:cNvSpPr/>
          <p:nvPr/>
        </p:nvSpPr>
        <p:spPr>
          <a:xfrm>
            <a:off x="8787384" y="202996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EU-IC-EUSP - L2 Mobility and Systems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787384" y="232257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/ Mobility · L2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66760" y="2871216"/>
            <a:ext cx="3657600" cy="841248"/>
          </a:xfrm>
          <a:prstGeom prst="roundRect">
            <a:avLst>
              <a:gd name="adj" fmla="val 4348"/>
            </a:avLst>
          </a:prstGeom>
          <a:solidFill>
            <a:srgbClr val="F2F5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67928" y="3218688"/>
            <a:ext cx="128016" cy="128016"/>
          </a:xfrm>
          <a:prstGeom prst="ellipse">
            <a:avLst/>
          </a:prstGeom>
          <a:solidFill>
            <a:srgbClr val="0F7C8A"/>
          </a:solidFill>
          <a:ln/>
        </p:spPr>
      </p:sp>
      <p:sp>
        <p:nvSpPr>
          <p:cNvPr id="38" name="Text 36"/>
          <p:cNvSpPr/>
          <p:nvPr/>
        </p:nvSpPr>
        <p:spPr>
          <a:xfrm>
            <a:off x="8787384" y="299923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EU-IC-EUSP - Client Architect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787384" y="329184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Engineering · L3/L4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366760" y="3840480"/>
            <a:ext cx="3657600" cy="841248"/>
          </a:xfrm>
          <a:prstGeom prst="roundRect">
            <a:avLst>
              <a:gd name="adj" fmla="val 4348"/>
            </a:avLst>
          </a:prstGeom>
          <a:solidFill>
            <a:srgbClr val="F2F5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67928" y="4187952"/>
            <a:ext cx="128016" cy="128016"/>
          </a:xfrm>
          <a:prstGeom prst="ellipse">
            <a:avLst/>
          </a:prstGeom>
          <a:solidFill>
            <a:srgbClr val="0F7C8A"/>
          </a:solidFill>
          <a:ln/>
        </p:spPr>
      </p:sp>
      <p:sp>
        <p:nvSpPr>
          <p:cNvPr id="42" name="Text 40"/>
          <p:cNvSpPr/>
          <p:nvPr/>
        </p:nvSpPr>
        <p:spPr>
          <a:xfrm>
            <a:off x="8787384" y="3968496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EU-IC-EUSP - Client PAM Support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787384" y="426110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/ Privilege · L2/L3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2920" y="5870448"/>
            <a:ext cx="11183112" cy="566928"/>
          </a:xfrm>
          <a:prstGeom prst="roundRect">
            <a:avLst>
              <a:gd name="adj" fmla="val 6452"/>
            </a:avLst>
          </a:prstGeom>
          <a:solidFill>
            <a:srgbClr val="FDF0E7"/>
          </a:solidFill>
          <a:ln w="9525">
            <a:solidFill>
              <a:srgbClr val="F3B69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961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3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Operations behaves as an intake queue while the L3 groups are engineering queues — so they cannot share one SLA target or one ageing threshold.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3842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6052"/>
            <a:ext cx="91440" cy="91440"/>
          </a:xfrm>
          <a:prstGeom prst="rect">
            <a:avLst/>
          </a:prstGeom>
          <a:solidFill>
            <a:srgbClr val="FE50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screen, three zones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61772" y="1248586"/>
            <a:ext cx="8814816" cy="50923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14300" dist="25400" dir="5400000">
              <a:srgbClr val="8A97A5">
                <a:alpha val="16000"/>
              </a:srgbClr>
            </a:outerShdw>
          </a:effectLst>
        </p:spPr>
      </p:sp>
      <p:pic>
        <p:nvPicPr>
          <p:cNvPr id="6" name="Image 0" descr="/home/claude/shots/0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9734"/>
            <a:ext cx="8732520" cy="50100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55480" y="1600200"/>
            <a:ext cx="310896" cy="310896"/>
          </a:xfrm>
          <a:prstGeom prst="ellipse">
            <a:avLst/>
          </a:prstGeom>
          <a:solidFill>
            <a:srgbClr val="1F2733"/>
          </a:solidFill>
          <a:ln/>
        </p:spPr>
      </p:sp>
      <p:sp>
        <p:nvSpPr>
          <p:cNvPr id="8" name="Text 5"/>
          <p:cNvSpPr/>
          <p:nvPr/>
        </p:nvSpPr>
        <p:spPr>
          <a:xfrm>
            <a:off x="9555480" y="16276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985248" y="15910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strip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985248" y="1911096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numbers that decide whether today is normal.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555480" y="3172968"/>
            <a:ext cx="310896" cy="310896"/>
          </a:xfrm>
          <a:prstGeom prst="ellipse">
            <a:avLst/>
          </a:prstGeom>
          <a:solidFill>
            <a:srgbClr val="1F2733"/>
          </a:solidFill>
          <a:ln/>
        </p:spPr>
      </p:sp>
      <p:sp>
        <p:nvSpPr>
          <p:cNvPr id="12" name="Text 9"/>
          <p:cNvSpPr/>
          <p:nvPr/>
        </p:nvSpPr>
        <p:spPr>
          <a:xfrm>
            <a:off x="9555480" y="320040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985248" y="31638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table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985248" y="3483864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assignment group, one row, sorted by whatever hurts.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555480" y="4745736"/>
            <a:ext cx="310896" cy="310896"/>
          </a:xfrm>
          <a:prstGeom prst="ellipse">
            <a:avLst/>
          </a:prstGeom>
          <a:solidFill>
            <a:srgbClr val="1F2733"/>
          </a:solidFill>
          <a:ln/>
        </p:spPr>
      </p:sp>
      <p:sp>
        <p:nvSpPr>
          <p:cNvPr id="16" name="Text 13"/>
          <p:cNvSpPr/>
          <p:nvPr/>
        </p:nvSpPr>
        <p:spPr>
          <a:xfrm>
            <a:off x="9555480" y="477316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985248" y="4736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panels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985248" y="505663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SLA, ageing, priority mix and who is carrying the load.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3842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4340"/>
            <a:ext cx="91440" cy="91440"/>
          </a:xfrm>
          <a:prstGeom prst="rect">
            <a:avLst/>
          </a:prstGeom>
          <a:solidFill>
            <a:srgbClr val="FE50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strip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tile is a decision, not a statistic — if a number moves, somebody has an action.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1772" y="1484607"/>
            <a:ext cx="11265408" cy="22428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14300" dist="25400" dir="5400000">
              <a:srgbClr val="8A97A5">
                <a:alpha val="16000"/>
              </a:srgbClr>
            </a:outerShdw>
          </a:effectLst>
        </p:spPr>
      </p:sp>
      <p:pic>
        <p:nvPicPr>
          <p:cNvPr id="7" name="Image 0" descr="/home/claude/shots/02_k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25755"/>
            <a:ext cx="11183112" cy="216057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023360"/>
            <a:ext cx="137160" cy="137160"/>
          </a:xfrm>
          <a:prstGeom prst="ellipse">
            <a:avLst/>
          </a:prstGeom>
          <a:solidFill>
            <a:srgbClr val="E2660C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Unassigned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" y="427939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 means no clock being watched. Oldest age sits under the number.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4023360"/>
            <a:ext cx="137160" cy="137160"/>
          </a:xfrm>
          <a:prstGeom prst="ellipse">
            <a:avLst/>
          </a:prstGeom>
          <a:solidFill>
            <a:srgbClr val="C81E2A"/>
          </a:solidFill>
          <a:ln/>
        </p:spPr>
      </p:sp>
      <p:sp>
        <p:nvSpPr>
          <p:cNvPr id="12" name="Text 9"/>
          <p:cNvSpPr/>
          <p:nvPr/>
        </p:nvSpPr>
        <p:spPr>
          <a:xfrm>
            <a:off x="4544568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44568" y="427939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lost. Drives the recovery note to the service owner.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01000" y="4023360"/>
            <a:ext cx="137160" cy="137160"/>
          </a:xfrm>
          <a:prstGeom prst="ellipse">
            <a:avLst/>
          </a:prstGeom>
          <a:solidFill>
            <a:srgbClr val="E2660C"/>
          </a:solidFill>
          <a:ln/>
        </p:spPr>
      </p:sp>
      <p:sp>
        <p:nvSpPr>
          <p:cNvPr id="15" name="Text 12"/>
          <p:cNvSpPr/>
          <p:nvPr/>
        </p:nvSpPr>
        <p:spPr>
          <a:xfrm>
            <a:off x="8293608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Breaching &lt; 4 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93608" y="427939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tile that changes what you do in the next hour.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5230368"/>
            <a:ext cx="137160" cy="137160"/>
          </a:xfrm>
          <a:prstGeom prst="ellipse">
            <a:avLst/>
          </a:prstGeom>
          <a:solidFill>
            <a:srgbClr val="C81E2A"/>
          </a:solidFill>
          <a:ln/>
        </p:spPr>
      </p:sp>
      <p:sp>
        <p:nvSpPr>
          <p:cNvPr id="18" name="Text 15"/>
          <p:cNvSpPr/>
          <p:nvPr/>
        </p:nvSpPr>
        <p:spPr>
          <a:xfrm>
            <a:off x="795528" y="5184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active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95528" y="5486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check — should always reconcile with the major incident call.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251960" y="5230368"/>
            <a:ext cx="137160" cy="137160"/>
          </a:xfrm>
          <a:prstGeom prst="ellipse">
            <a:avLst/>
          </a:prstGeom>
          <a:solidFill>
            <a:srgbClr val="0B6BB4"/>
          </a:solidFill>
          <a:ln/>
        </p:spPr>
      </p:sp>
      <p:sp>
        <p:nvSpPr>
          <p:cNvPr id="21" name="Text 18"/>
          <p:cNvSpPr/>
          <p:nvPr/>
        </p:nvSpPr>
        <p:spPr>
          <a:xfrm>
            <a:off x="4544568" y="5184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backlog age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44568" y="5486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drift here is how a queue rots without a single breach.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001000" y="5230368"/>
            <a:ext cx="137160" cy="13716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4" name="Text 21"/>
          <p:cNvSpPr/>
          <p:nvPr/>
        </p:nvSpPr>
        <p:spPr>
          <a:xfrm>
            <a:off x="8293608" y="5184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93608" y="5486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reaches the client. Target 95%.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3842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4340"/>
            <a:ext cx="91440" cy="91440"/>
          </a:xfrm>
          <a:prstGeom prst="rect">
            <a:avLst/>
          </a:prstGeom>
          <a:solidFill>
            <a:srgbClr val="FE50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health — the columns we argued for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on every numeric column, so the table reorders around whichever problem you are chasing.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37665" y="1376172"/>
            <a:ext cx="9313621" cy="28712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14300" dist="25400" dir="5400000">
              <a:srgbClr val="8A97A5">
                <a:alpha val="16000"/>
              </a:srgbClr>
            </a:outerShdw>
          </a:effectLst>
        </p:spPr>
      </p:sp>
      <p:pic>
        <p:nvPicPr>
          <p:cNvPr id="7" name="Image 0" descr="/home/claude/shots/03_que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813" y="1417320"/>
            <a:ext cx="9231325" cy="278892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480560"/>
          <a:ext cx="72237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5440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6B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· New · In progress · Pending · Resolved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Unassigned · P1/P2 · Breached · At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66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 days · &gt; 15 days · Average 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% bar · 7-day inflow sparkline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38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owner — one named person per 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092440" y="4480560"/>
            <a:ext cx="3593592" cy="1737360"/>
          </a:xfrm>
          <a:prstGeom prst="roundRect">
            <a:avLst>
              <a:gd name="adj" fmla="val 2105"/>
            </a:avLst>
          </a:prstGeom>
          <a:solidFill>
            <a:srgbClr val="1F2733"/>
          </a:solidFill>
          <a:ln w="12700">
            <a:solidFill>
              <a:srgbClr val="1F27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321040" y="4626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E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columns people skip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321040" y="495604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3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Unassigned-with-oldest-age and no-update-over-48h. Tickets rot there quietly, long before anything shows up as a breach.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3842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4340"/>
            <a:ext cx="91440" cy="91440"/>
          </a:xfrm>
          <a:prstGeom prst="rect">
            <a:avLst/>
          </a:prstGeom>
          <a:solidFill>
            <a:srgbClr val="FE50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queue, the whole page follows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MDM Support L2 AM re-scopes the work list, the tab counts and the side panels to that group only.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59915" y="1421892"/>
            <a:ext cx="8069123" cy="4197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14300" dist="25400" dir="5400000">
              <a:srgbClr val="8A97A5">
                <a:alpha val="16000"/>
              </a:srgbClr>
            </a:outerShdw>
          </a:effectLst>
        </p:spPr>
      </p:sp>
      <p:pic>
        <p:nvPicPr>
          <p:cNvPr id="7" name="Image 0" descr="/home/claude/shots/06_drill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1063" y="1463040"/>
            <a:ext cx="7986827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80644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and tower filters work the same way — nothing opens a second screen, so a stand-up never loses its place.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3842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4340"/>
            <a:ext cx="91440" cy="91440"/>
          </a:xfrm>
          <a:prstGeom prst="rect">
            <a:avLst/>
          </a:prstGeom>
          <a:solidFill>
            <a:srgbClr val="FE50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list with saved views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tabs that match how the team already triages — each one carries a live count.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1772" y="1515509"/>
            <a:ext cx="7946136" cy="382698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14300" dist="25400" dir="5400000">
              <a:srgbClr val="8A97A5">
                <a:alpha val="16000"/>
              </a:srgbClr>
            </a:outerShdw>
          </a:effectLst>
        </p:spPr>
      </p:sp>
      <p:pic>
        <p:nvPicPr>
          <p:cNvPr id="7" name="Image 0" descr="/home/claude/shots/05_wor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6657"/>
            <a:ext cx="7863840" cy="3744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4108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41080" y="1847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41080" y="20665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backlog in scope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41080" y="23225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Unassigned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641080" y="25420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queue for the shift lead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41080" y="27980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641080" y="30175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+ client note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41080" y="32735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Breaching &lt; 4 h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641080" y="34930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now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41080" y="37490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/ P2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641080" y="39684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with the bridge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641080" y="42245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customer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641080" y="44439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or auto-close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641080" y="47000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update &gt; 48 h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641080" y="49194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rot list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641080" y="5175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in window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641080" y="53949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sampling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02920" y="5623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click opens the incident detail panel with the full activity trail and reassign actions.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13842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4340"/>
            <a:ext cx="91440" cy="91440"/>
          </a:xfrm>
          <a:prstGeom prst="rect">
            <a:avLst/>
          </a:prstGeom>
          <a:solidFill>
            <a:srgbClr val="FE50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detail without leaving the dashboard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 triage and reassign; the deep edit still happens in ITSM.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7435" y="1421892"/>
            <a:ext cx="7334082" cy="42428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14300" dist="25400" dir="5400000">
              <a:srgbClr val="8A97A5">
                <a:alpha val="16000"/>
              </a:srgbClr>
            </a:outerShdw>
          </a:effectLst>
        </p:spPr>
      </p:sp>
      <p:pic>
        <p:nvPicPr>
          <p:cNvPr id="7" name="Image 0" descr="/home/claude/shots/07_dra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583" y="1463040"/>
            <a:ext cx="7251786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85216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Shown: priority, status, SLA state and target, age, assignment group, tower and tier, assignee, requester, region, queue owner — plus the activity trail from logging to the last work note.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3842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4340"/>
            <a:ext cx="91440" cy="91440"/>
          </a:xfrm>
          <a:prstGeom prst="rect">
            <a:avLst/>
          </a:prstGeom>
          <a:solidFill>
            <a:srgbClr val="FE50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panels — the shape of the backlog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tells you how many. These tell you what kind.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5246" y="1330452"/>
            <a:ext cx="1641348" cy="51114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14300" dist="25400" dir="5400000">
              <a:srgbClr val="8A97A5">
                <a:alpha val="16000"/>
              </a:srgbClr>
            </a:outerShdw>
          </a:effectLst>
        </p:spPr>
      </p:sp>
      <p:pic>
        <p:nvPicPr>
          <p:cNvPr id="7" name="Image 0" descr="/home/claude/shots/04_widg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394" y="1371600"/>
            <a:ext cx="1559052" cy="5029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0" y="1481328"/>
            <a:ext cx="8028432" cy="86868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13632" y="1581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913632" y="186537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· at risk · breached · resolved in SLA, as one donut. This is the figure that goes into the monthly pack.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0" y="2468880"/>
            <a:ext cx="8028432" cy="86868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13632" y="2569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ageing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913632" y="285292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buckets from under a day to over fifteen. A fat right-hand tail is the early warning we currently miss.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0" y="3456432"/>
            <a:ext cx="8028432" cy="86868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13632" y="3557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mix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913632" y="3840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P1–P4 split. Tells you whether volume is noise or genuine severity.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0" y="4443984"/>
            <a:ext cx="8028432" cy="86868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13632" y="4544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 load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913632" y="48280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seven by open count, highest flagged. Answers "who is drowning" in one glance.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0" y="5431536"/>
            <a:ext cx="8028432" cy="86868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13632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913632" y="581558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queues ranked by breached, at-risk and unassigned combined — the first place to look each morning.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3842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4340"/>
            <a:ext cx="91440" cy="91440"/>
          </a:xfrm>
          <a:prstGeom prst="rect">
            <a:avLst/>
          </a:prstGeom>
          <a:solidFill>
            <a:srgbClr val="FE50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GETS USED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09:00 routine, in three clicks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Breached and at-risk filter on, all queues — the entire risk picture in one view.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1772" y="1471914"/>
            <a:ext cx="7717536" cy="44628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14300" dist="25400" dir="5400000">
              <a:srgbClr val="8A97A5">
                <a:alpha val="16000"/>
              </a:srgbClr>
            </a:outerShdw>
          </a:effectLst>
        </p:spPr>
      </p:sp>
      <p:pic>
        <p:nvPicPr>
          <p:cNvPr id="7" name="Image 0" descr="/home/claude/shots/08_bre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13062"/>
            <a:ext cx="7635240" cy="43805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0" y="1691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E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942832" y="174650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breached and at-risk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942832" y="225856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toggle. Every panel re-scopes to work that is already late or about to be.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58200" y="32461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E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942832" y="33009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unassigned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942832" y="381304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late with no owner is assigned on the call, not after it.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58200" y="4800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E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942832" y="48554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Needs attention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942832" y="536752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which queue gets the extra pair of hands today.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3842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4340"/>
            <a:ext cx="91440" cy="91440"/>
          </a:xfrm>
          <a:prstGeom prst="rect">
            <a:avLst/>
          </a:prstGeom>
          <a:solidFill>
            <a:srgbClr val="FE50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BUILD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and three assumptions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is sample data. These answers turn it into a real Helix view.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we need from you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5440680" cy="1170432"/>
          </a:xfrm>
          <a:prstGeom prst="roundRect">
            <a:avLst>
              <a:gd name="adj" fmla="val 3125"/>
            </a:avLst>
          </a:prstGeom>
          <a:solidFill>
            <a:srgbClr val="F2F5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1109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Dashboards or Smart Reporting?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221284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widgets and Smart Reporting are different builds — this changes the effort estimate, not the design.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5440680" cy="1170432"/>
          </a:xfrm>
          <a:prstGeom prst="roundRect">
            <a:avLst>
              <a:gd name="adj" fmla="val 3125"/>
            </a:avLst>
          </a:prstGeom>
          <a:solidFill>
            <a:srgbClr val="F2F5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2369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 or several?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9808" y="353872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PAM and Client Architect run through Incident, or through Work Order and Change?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5440680" cy="1170432"/>
          </a:xfrm>
          <a:prstGeom prst="roundRect">
            <a:avLst>
              <a:gd name="adj" fmla="val 3125"/>
            </a:avLst>
          </a:prstGeom>
          <a:solidFill>
            <a:srgbClr val="F2F5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56285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service targets per group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" y="486460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model assumes 8 h for L2, 24 h for L3, 40 h for Client Architect, scaled by priority.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1417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baked into this draft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55080" y="1783080"/>
            <a:ext cx="5330952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984248"/>
            <a:ext cx="137160" cy="137160"/>
          </a:xfrm>
          <a:prstGeom prst="ellipse">
            <a:avLst/>
          </a:prstGeom>
          <a:solidFill>
            <a:srgbClr val="E2660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9110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stops the clock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0" y="2212848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at 40% accrual. If SLM does not pause on customer wait, the at-risk counts change materially.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3108960"/>
            <a:ext cx="5330952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3310128"/>
            <a:ext cx="137160" cy="137160"/>
          </a:xfrm>
          <a:prstGeom prst="ellipse">
            <a:avLst/>
          </a:prstGeom>
          <a:solidFill>
            <a:srgbClr val="0B6BB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2369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backlog ignores the window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0" y="3538728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counts follow the date filter, backlog always shows in full — otherwise "Today" makes the queue look healthy.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4434840"/>
            <a:ext cx="5330952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4636008"/>
            <a:ext cx="137160" cy="137160"/>
          </a:xfrm>
          <a:prstGeom prst="ellipse">
            <a:avLst/>
          </a:prstGeom>
          <a:solidFill>
            <a:srgbClr val="C81E2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5628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means the same thing everywhere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0" y="4864608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 measures response and L3 measures resolution, the SLA % column is not comparable and needs splitting in two.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842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60120"/>
            <a:ext cx="146304" cy="146304"/>
          </a:xfrm>
          <a:prstGeom prst="rect">
            <a:avLst/>
          </a:prstGeom>
          <a:solidFill>
            <a:srgbClr val="FE5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93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04672" y="12984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this review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E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00200" y="2350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column 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37760" y="235915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drop columns on this draft before anything is built — cheapest change we will ever make.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E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00200" y="3310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one week of real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331927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eight groups, real SLM targets, so we can see whether the thresholds are set sensibly.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E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00200" y="4270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Helix and pilot on 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427939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 first. AP Operations has the highest volume, so it will surface the gaps fastest.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212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E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5230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AM and EU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523951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queue owners named on each row and the 09:00 routine agreed.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throughout — placeholder users, no production ticket content or real names are shown.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384280" y="6327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EUSP Queue Command Centre — dashboard concept</dc:title>
  <dc:subject>PptxGenJS Presentation</dc:subject>
  <dc:creator>EUSP Service Operations</dc:creator>
  <cp:lastModifiedBy>EUSP Service Operations</cp:lastModifiedBy>
  <cp:revision>1</cp:revision>
  <dcterms:created xsi:type="dcterms:W3CDTF">2026-07-23T14:17:53Z</dcterms:created>
  <dcterms:modified xsi:type="dcterms:W3CDTF">2026-07-23T14:17:53Z</dcterms:modified>
</cp:coreProperties>
</file>