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1A3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B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DD4B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Outlook\Teams</c:v>
                  </c:pt>
                  <c:pt idx="1">
                    <c:v>RBAC Profile</c:v>
                  </c:pt>
                  <c:pt idx="2">
                    <c:v>MacOS</c:v>
                  </c:pt>
                  <c:pt idx="3">
                    <c:v>W365</c:v>
                  </c:pt>
                  <c:pt idx="4">
                    <c:v>Office 365</c:v>
                  </c:pt>
                  <c:pt idx="5">
                    <c:v>Windows Autopilot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</c:v>
                </c:pt>
                <c:pt idx="1">
                  <c:v>7</c:v>
                </c:pt>
                <c:pt idx="2">
                  <c:v>1</c:v>
                </c:pt>
                <c:pt idx="3">
                  <c:v>9</c:v>
                </c:pt>
                <c:pt idx="4">
                  <c:v>7</c:v>
                </c:pt>
                <c:pt idx="5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1A3B6F"/>
            </a:solidFill>
            <a:ln w="25400" cap="flat">
              <a:solidFill>
                <a:srgbClr val="1A3B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B6F"/>
              </a:solidFill>
              <a:ln w="9525" cap="flat">
                <a:solidFill>
                  <a:srgbClr val="1A3B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March</c:v>
                  </c:pt>
                  <c:pt idx="3">
                    <c:v>April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</c:v>
                </c:pt>
                <c:pt idx="1">
                  <c:v>92</c:v>
                </c:pt>
                <c:pt idx="2">
                  <c:v>151</c:v>
                </c:pt>
                <c:pt idx="3">
                  <c:v>125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Incidents</c:v>
                  </c:pt>
                  <c:pt idx="1">
                    <c:v>WorkOrder</c:v>
                  </c:pt>
                  <c:pt idx="2">
                    <c:v>Changes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</c:v>
                </c:pt>
                <c:pt idx="1">
                  <c:v>57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Closed</c:v>
                </c:pt>
              </c:strCache>
            </c:strRef>
          </c:tx>
          <c:spPr>
            <a:solidFill>
              <a:srgbClr val="1A3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Incidents</c:v>
                  </c:pt>
                  <c:pt idx="1">
                    <c:v>WorkOrder</c:v>
                  </c:pt>
                  <c:pt idx="2">
                    <c:v>Changes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55</c:v>
                </c:pt>
                <c:pt idx="1">
                  <c:v>44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Incidents</c:v>
                  </c:pt>
                  <c:pt idx="1">
                    <c:v>WorkOrder</c:v>
                  </c:pt>
                  <c:pt idx="2">
                    <c:v>Changes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B6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Microsoft Cases</c:v>
                  </c:pt>
                  <c:pt idx="1">
                    <c:v>Active Cases</c:v>
                  </c:pt>
                  <c:pt idx="2">
                    <c:v>Closed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3B82F6"/>
            </a:solidFill>
            <a:ln w="31750" cap="flat">
              <a:solidFill>
                <a:srgbClr val="3B82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2F6"/>
              </a:solidFill>
              <a:ln w="9525" cap="flat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50</c:v>
                </c:pt>
                <c:pt idx="3">
                  <c:v>64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Other issues</c:v>
                  </c:pt>
                  <c:pt idx="1">
                    <c:v>Network issues</c:v>
                  </c:pt>
                  <c:pt idx="2">
                    <c:v>SAP Issues</c:v>
                  </c:pt>
                  <c:pt idx="3">
                    <c:v>App request</c:v>
                  </c:pt>
                  <c:pt idx="4">
                    <c:v>VDI Request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9</c:v>
                </c:pt>
                <c:pt idx="2">
                  <c:v>17</c:v>
                </c:pt>
                <c:pt idx="3">
                  <c:v>6</c:v>
                </c:pt>
                <c:pt idx="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Apps</c:v>
                </c:pt>
              </c:strCache>
            </c:strRef>
          </c:tx>
          <c:spPr>
            <a:solidFill>
              <a:srgbClr val="1A3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3B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3B6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Nov'25</c:v>
                  </c:pt>
                  <c:pt idx="1">
                    <c:v>Dec'25</c:v>
                  </c:pt>
                  <c:pt idx="2">
                    <c:v>Jan'26</c:v>
                  </c:pt>
                  <c:pt idx="3">
                    <c:v>Feb'26</c:v>
                  </c:pt>
                  <c:pt idx="4">
                    <c:v>Mar'26</c:v>
                  </c:pt>
                  <c:pt idx="5">
                    <c:v>Apr'26(till 27th)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</c:v>
                </c:pt>
                <c:pt idx="1">
                  <c:v>61</c:v>
                </c:pt>
                <c:pt idx="2">
                  <c:v>84</c:v>
                </c:pt>
                <c:pt idx="3">
                  <c:v>107</c:v>
                </c:pt>
                <c:pt idx="4">
                  <c:v>100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Migration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Migrated (50)</c:v>
                </c:pt>
                <c:pt idx="1">
                  <c:v>To be Migrated (70)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70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O365 Installer</c:v>
                  </c:pt>
                  <c:pt idx="1">
                    <c:v>SCCM Console</c:v>
                  </c:pt>
                  <c:pt idx="2">
                    <c:v>Windows Update</c:v>
                  </c:pt>
                  <c:pt idx="3">
                    <c:v>SCCM Reports</c:v>
                  </c:pt>
                  <c:pt idx="4">
                    <c:v>Device Details</c:v>
                  </c:pt>
                  <c:pt idx="5">
                    <c:v>Nagios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3B6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Microsoft Cases</c:v>
                  </c:pt>
                  <c:pt idx="1">
                    <c:v>Active Cases</c:v>
                  </c:pt>
                  <c:pt idx="2">
                    <c:v>Closed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Inc-Pending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Workload 1</c:v>
                  </c:pt>
                  <c:pt idx="1">
                    <c:v>Workload 2</c:v>
                  </c:pt>
                  <c:pt idx="2">
                    <c:v>Workload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Inc-Closed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Workload 1</c:v>
                  </c:pt>
                  <c:pt idx="1">
                    <c:v>Workload 2</c:v>
                  </c:pt>
                  <c:pt idx="2">
                    <c:v>Workload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WO-Pending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Workload 1</c:v>
                  </c:pt>
                  <c:pt idx="1">
                    <c:v>Workload 2</c:v>
                  </c:pt>
                  <c:pt idx="2">
                    <c:v>Workload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WO-Closed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Workload 1</c:v>
                  </c:pt>
                  <c:pt idx="1">
                    <c:v>Workload 2</c:v>
                  </c:pt>
                  <c:pt idx="2">
                    <c:v>Workload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Apr</c:v>
                  </c:pt>
                  <c:pt idx="1">
                    <c:v>8 Apr</c:v>
                  </c:pt>
                  <c:pt idx="2">
                    <c:v>15 Apr</c:v>
                  </c:pt>
                  <c:pt idx="3">
                    <c:v>22 Apr</c:v>
                  </c:pt>
                  <c:pt idx="4">
                    <c:v>30 Apr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 Orders</c:v>
                </c:pt>
              </c:strCache>
            </c:strRef>
          </c:tx>
          <c:spPr>
            <a:solidFill>
              <a:srgbClr val="22C55E"/>
            </a:solidFill>
            <a:ln w="2540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Apr</c:v>
                  </c:pt>
                  <c:pt idx="1">
                    <c:v>8 Apr</c:v>
                  </c:pt>
                  <c:pt idx="2">
                    <c:v>15 Apr</c:v>
                  </c:pt>
                  <c:pt idx="3">
                    <c:v>22 Apr</c:v>
                  </c:pt>
                  <c:pt idx="4">
                    <c:v>30 Apr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PD%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16.5</c:v>
                </c:pt>
                <c:pt idx="1">
                  <c:v>15.5</c:v>
                </c:pt>
                <c:pt idx="2">
                  <c:v>17.5</c:v>
                </c:pt>
                <c:pt idx="3">
                  <c:v>19.5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rgbClr val="1A3B6F"/>
            </a:solidFill>
            <a:ln w="25400" cap="flat">
              <a:solidFill>
                <a:srgbClr val="1A3B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3B6F"/>
              </a:solidFill>
              <a:ln w="9525" cap="flat">
                <a:solidFill>
                  <a:srgbClr val="1A3B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January</c:v>
                  </c:pt>
                  <c:pt idx="1">
                    <c:v>February</c:v>
                  </c:pt>
                  <c:pt idx="2">
                    <c:v>March</c:v>
                  </c:pt>
                  <c:pt idx="3">
                    <c:v>April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1930</c:v>
                </c:pt>
                <c:pt idx="1">
                  <c:v>2100</c:v>
                </c:pt>
                <c:pt idx="2">
                  <c:v>2300</c:v>
                </c:pt>
                <c:pt idx="3">
                  <c:v>2605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Inc-Pending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Config Analyst</c:v>
                  </c:pt>
                  <c:pt idx="1">
                    <c:v>Client Architect</c:v>
                  </c:pt>
                  <c:pt idx="2">
                    <c:v>IT Service Owner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Inc-Closed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Config Analyst</c:v>
                  </c:pt>
                  <c:pt idx="1">
                    <c:v>Client Architect</c:v>
                  </c:pt>
                  <c:pt idx="2">
                    <c:v>IT Service Owner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WO-Pending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Config Analyst</c:v>
                  </c:pt>
                  <c:pt idx="1">
                    <c:v>Client Architect</c:v>
                  </c:pt>
                  <c:pt idx="2">
                    <c:v>IT Service Owner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WO-Closed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Client Config Analyst</c:v>
                  </c:pt>
                  <c:pt idx="1">
                    <c:v>Client Architect</c:v>
                  </c:pt>
                  <c:pt idx="2">
                    <c:v>IT Service Owner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</c:v>
                </c:pt>
                <c:pt idx="1">
                  <c:v>11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F4444"/>
            </a:solidFill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Apr</c:v>
                  </c:pt>
                  <c:pt idx="1">
                    <c:v>8 Apr</c:v>
                  </c:pt>
                  <c:pt idx="2">
                    <c:v>15 Apr</c:v>
                  </c:pt>
                  <c:pt idx="3">
                    <c:v>22 Apr</c:v>
                  </c:pt>
                  <c:pt idx="4">
                    <c:v>30 Apr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Work Orders</c:v>
                </c:pt>
              </c:strCache>
            </c:strRef>
          </c:tx>
          <c:spPr>
            <a:solidFill>
              <a:srgbClr val="22C55E"/>
            </a:solidFill>
            <a:ln w="31750" cap="flat">
              <a:solidFill>
                <a:srgbClr val="22C5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 Apr</c:v>
                  </c:pt>
                  <c:pt idx="1">
                    <c:v>8 Apr</c:v>
                  </c:pt>
                  <c:pt idx="2">
                    <c:v>15 Apr</c:v>
                  </c:pt>
                  <c:pt idx="3">
                    <c:v>22 Apr</c:v>
                  </c:pt>
                  <c:pt idx="4">
                    <c:v>30 Apr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12</c:v>
                </c:pt>
                <c:pt idx="2">
                  <c:v>22</c:v>
                </c:pt>
                <c:pt idx="3">
                  <c:v>35</c:v>
                </c:pt>
                <c:pt idx="4">
                  <c:v>44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Closed Incidents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Feb</c:v>
                  </c:pt>
                  <c:pt idx="1">
                    <c:v>March</c:v>
                  </c:pt>
                  <c:pt idx="2">
                    <c:v>April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19</c:v>
                </c:pt>
                <c:pt idx="2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Feb</c:v>
                  </c:pt>
                  <c:pt idx="1">
                    <c:v>March</c:v>
                  </c:pt>
                  <c:pt idx="2">
                    <c:v>April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</c:v>
                </c:pt>
                <c:pt idx="1">
                  <c:v>19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.xml"/><Relationship Id="rId5" Type="http://schemas.openxmlformats.org/officeDocument/2006/relationships/chart" Target="/ppt/charts/chart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9.xml"/><Relationship Id="rId4" Type="http://schemas.openxmlformats.org/officeDocument/2006/relationships/chart" Target="/ppt/charts/chart10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.xml"/><Relationship Id="rId5" Type="http://schemas.openxmlformats.org/officeDocument/2006/relationships/chart" Target="/ppt/charts/chart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.xml"/><Relationship Id="rId5" Type="http://schemas.openxmlformats.org/officeDocument/2006/relationships/chart" Target="/ppt/charts/chart14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chart" Target="/ppt/charts/chart1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457200"/>
            <a:ext cx="4114800" cy="4114800"/>
          </a:xfrm>
          <a:prstGeom prst="ellipse">
            <a:avLst/>
          </a:prstGeom>
          <a:solidFill>
            <a:srgbClr val="253A82">
              <a:alpha val="6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A2D6B">
              <a:alpha val="70000"/>
            </a:srgbClr>
          </a:solidFill>
          <a:ln w="635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64008" cy="1463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SISC — Device Experience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3957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Review Meeting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  ·  April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" y="333756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3B82F6">
              <a:alpha val="80000"/>
            </a:srgbClr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38328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3364992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4th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23544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24128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" y="98755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— Overall Executive Summary &amp; Key 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9536" y="124358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device experience performance, SLA status, and critical metrics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6459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&amp; Operating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" y="1901952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structure, roles, and ownership matrix for device experience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240280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340864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340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" y="23042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—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9536" y="25603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across Intune L3, SCCM L3, App Packaging, AP Ops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" y="2999232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" y="29626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Updates &amp; Highlights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3218688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updates from all 5 teams including wins and challenges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557016"/>
            <a:ext cx="8595360" cy="612648"/>
          </a:xfrm>
          <a:prstGeom prst="rect">
            <a:avLst/>
          </a:prstGeom>
          <a:solidFill>
            <a:srgbClr val="FFFFFF"/>
          </a:solidFill>
          <a:ln w="635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657600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9536" y="36210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Initiatives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9536" y="3877056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initiatives, transformation roadmap, and upcoming milestones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315968"/>
            <a:ext cx="402336" cy="402336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315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9536" y="4279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Dependencies &amp; Leadership Asks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" y="4535424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risks, dependencies, and items requiring leadership decision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— Overall 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Tickets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65376" y="804672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65376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65376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W365 Tickets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6432" y="804672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56432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Requests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47488" y="804672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47488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047488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Tickets Logged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38544" y="804672"/>
            <a:ext cx="148132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8229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638544" y="1280160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Tickets Logged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82880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7472" y="1874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2212848"/>
            <a:ext cx="91440" cy="91440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15798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migration remain the main delivery levers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2624328"/>
            <a:ext cx="91440" cy="91440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56946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and network dependencies drive most escalations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4048" y="3035808"/>
            <a:ext cx="91440" cy="91440"/>
          </a:xfrm>
          <a:prstGeom prst="ellipse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" y="2980944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and Cloud PC remain leadership watch areas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931920" y="182880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005072" y="1920240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188366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L3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33872" y="188366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05072" y="2157984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9664" y="21214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33872" y="212140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05072" y="2395728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69664" y="235915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33872" y="235915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005072" y="263347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69664" y="259689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Operations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33872" y="2596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005072" y="28712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28346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L3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33872" y="28346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05072" y="31089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69664" y="307238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33872" y="307238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812280" y="1828800"/>
            <a:ext cx="20574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876288" y="1901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In-Progress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03720" y="2231136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21762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 Autopilot networking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903720" y="2633472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40880" y="2578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Cloud PC upgrade control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035808"/>
            <a:ext cx="91440" cy="91440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29809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AP patching migration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Dashboard  · 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2608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778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877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MEM Activities — Completed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023360" y="8778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completed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197864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14300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hardening policy implementation as per CIS recommendation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1453896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9903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11 migration completed for AM and AM SOLA OpCos — all systems upgraded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1709928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655064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AZURE AD modules to MgGraph on all production scripts (AZURE AD deprecated)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0040" y="1965960"/>
            <a:ext cx="82296" cy="8229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191109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experience SharePoint site created for all tracks (iOS, Android, Windows Autopilot, macOS, W365, MTR)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" y="2340864"/>
            <a:ext cx="52120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404872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03504" y="24048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Work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02336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 progress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0040" y="271576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2670048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Zero Touch (JP): Enable Android Zero Touch enrolment for Japan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320040" y="291693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7200" y="2871216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device renaming enhancement</a:t>
            </a:r>
            <a:endParaRPr lang="en-US" sz="880" dirty="0"/>
          </a:p>
        </p:txBody>
      </p:sp>
      <p:sp>
        <p:nvSpPr>
          <p:cNvPr id="25" name="Shape 21"/>
          <p:cNvSpPr/>
          <p:nvPr/>
        </p:nvSpPr>
        <p:spPr>
          <a:xfrm>
            <a:off x="320040" y="31181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57200" y="3072384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stages of SMP OpCo migration — close shortly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320040" y="331927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57200" y="3273552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Mobile device minimum OS compliance for Europe region</a:t>
            </a:r>
            <a:endParaRPr lang="en-US" sz="880" dirty="0"/>
          </a:p>
        </p:txBody>
      </p:sp>
      <p:sp>
        <p:nvSpPr>
          <p:cNvPr id="29" name="Shape 25"/>
          <p:cNvSpPr/>
          <p:nvPr/>
        </p:nvSpPr>
        <p:spPr>
          <a:xfrm>
            <a:off x="320040" y="352044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3474720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SSO implementation for macOS — password-less sign-ins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320040" y="37216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" y="3675888"/>
            <a:ext cx="4901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Auto Update (MAU) for Mac — in pipeline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228600" y="393192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023360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85216" y="40233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Mitigation Plan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4297680" y="4023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risk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347472" y="4261104"/>
            <a:ext cx="5010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block for Autopilot: Working closely with Networking team to resolve. Mitigation — Working with OPCO network Teams &amp; MS to ensure all network prerequisites are whitelisted.</a:t>
            </a:r>
            <a:endParaRPr lang="en-US" sz="880" dirty="0"/>
          </a:p>
        </p:txBody>
      </p:sp>
      <p:sp>
        <p:nvSpPr>
          <p:cNvPr id="38" name="Shape 33"/>
          <p:cNvSpPr/>
          <p:nvPr/>
        </p:nvSpPr>
        <p:spPr>
          <a:xfrm>
            <a:off x="5577840" y="804672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5650992" y="868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Trend — By Category</a:t>
            </a:r>
            <a:endParaRPr lang="en-US" sz="1150" dirty="0"/>
          </a:p>
        </p:txBody>
      </p:sp>
      <p:graphicFrame>
        <p:nvGraphicFramePr>
          <p:cNvPr id="40" name="Chart 0" descr=""/>
          <p:cNvGraphicFramePr/>
          <p:nvPr/>
        </p:nvGraphicFramePr>
        <p:xfrm>
          <a:off x="5577840" y="1115568"/>
          <a:ext cx="3337560" cy="14264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1" name="Shape 35"/>
          <p:cNvSpPr/>
          <p:nvPr/>
        </p:nvSpPr>
        <p:spPr>
          <a:xfrm>
            <a:off x="5577840" y="2743200"/>
            <a:ext cx="333756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5650992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Trend</a:t>
            </a:r>
            <a:endParaRPr lang="en-US" sz="1150" dirty="0"/>
          </a:p>
        </p:txBody>
      </p:sp>
      <p:graphicFrame>
        <p:nvGraphicFramePr>
          <p:cNvPr id="43" name="Chart 1" descr=""/>
          <p:cNvGraphicFramePr/>
          <p:nvPr/>
        </p:nvGraphicFramePr>
        <p:xfrm>
          <a:off x="5577840" y="3035808"/>
          <a:ext cx="33375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14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Received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23160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&gt;14d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8046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Incidents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12280" y="80467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8229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2618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Implemented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2200" y="804672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8412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HUB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841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progress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66420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16184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Tag Automation reviewed and confirmed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63640" y="186537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81965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Runbooks → Azure Functions migration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206654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202082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key backup script in development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226771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82512" y="222199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for patching UAT windows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169164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1755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vs Work Order — Tickets</a:t>
            </a:r>
            <a:endParaRPr lang="en-US" sz="11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28600" y="1993392"/>
          <a:ext cx="56692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Shape 28"/>
          <p:cNvSpPr/>
          <p:nvPr/>
        </p:nvSpPr>
        <p:spPr>
          <a:xfrm>
            <a:off x="6172200" y="2743200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245352" y="28072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Cases</a:t>
            </a:r>
            <a:endParaRPr lang="en-US" sz="1150" dirty="0"/>
          </a:p>
        </p:txBody>
      </p:sp>
      <p:graphicFrame>
        <p:nvGraphicFramePr>
          <p:cNvPr id="33" name="Chart 1" descr=""/>
          <p:cNvGraphicFramePr/>
          <p:nvPr/>
        </p:nvGraphicFramePr>
        <p:xfrm>
          <a:off x="6172200" y="3017520"/>
          <a:ext cx="27432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4" name="Text 30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of tickets pending for Autopilot and W365  ·  MS cases for Autopilot pending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365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38328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212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686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868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Activities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60520" y="86868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completed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11521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Cloud PC Migrations completed across OpCo's:</a:t>
            </a:r>
            <a:endParaRPr lang="en-US" sz="920" dirty="0"/>
          </a:p>
        </p:txBody>
      </p:sp>
      <p:sp>
        <p:nvSpPr>
          <p:cNvPr id="10" name="Text 7"/>
          <p:cNvSpPr/>
          <p:nvPr/>
        </p:nvSpPr>
        <p:spPr>
          <a:xfrm>
            <a:off x="347472" y="1353312"/>
            <a:ext cx="4956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WNS Opco   ·   MSCSM Opco   ·   SI Opco   ·   SOMEA Opco   ·   GSIRT Opco   ·   EU WNS Opco   ·   Accenture Opco   ·   JSONE Opco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7472" y="1554480"/>
            <a:ext cx="4956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migrations completed as per schedule.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28600" y="2084832"/>
            <a:ext cx="5212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14884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85216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Work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160520" y="21488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 progress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29184" y="242316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238658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Global Protect Service line Implementation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9184" y="260604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56946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to AM device migration for GSD agents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9184" y="27889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275234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W365 Cloud PC Migration — WNS FAOT, Found Ever EU, WNS Opco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9184" y="297180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293522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Windows365 Dashboard for All Opco Leads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9184" y="315468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3118104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Protect service line — minimizing latency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228600" y="334670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10712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66928" y="3410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Issues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160520" y="34107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 progress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329184" y="36576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48056" y="3621024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Slowness in SAP Mozart &amp; File share (WNS-AP)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29184" y="382219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48056" y="3785616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portal opening for EU WNS users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329184" y="398678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48056" y="3950208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WNS FAOT Bots enablement in W365 Cloud PC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329184" y="415137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48056" y="4114800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W365 disconnection — AP WNS users</a:t>
            </a:r>
            <a:endParaRPr lang="en-US" sz="800" dirty="0"/>
          </a:p>
        </p:txBody>
      </p:sp>
      <p:sp>
        <p:nvSpPr>
          <p:cNvPr id="38" name="Shape 33"/>
          <p:cNvSpPr/>
          <p:nvPr/>
        </p:nvSpPr>
        <p:spPr>
          <a:xfrm>
            <a:off x="329184" y="431596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48056" y="4279392"/>
            <a:ext cx="4919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WNS users cannot access Retailer Status portal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228600" y="438912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4462272"/>
            <a:ext cx="201168" cy="201168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66928" y="4462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Mitigation</a:t>
            </a:r>
            <a:endParaRPr lang="en-US" sz="1100" dirty="0"/>
          </a:p>
        </p:txBody>
      </p:sp>
      <p:sp>
        <p:nvSpPr>
          <p:cNvPr id="43" name="Text 37"/>
          <p:cNvSpPr/>
          <p:nvPr/>
        </p:nvSpPr>
        <p:spPr>
          <a:xfrm>
            <a:off x="429768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risks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347472" y="4663440"/>
            <a:ext cx="5010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WNS users experiencing latency in Share Drive &amp; SAP Mozart  ·  Uncontrolled MS Office version upgrades in W365 Cloud PC</a:t>
            </a:r>
            <a:endParaRPr lang="en-US" sz="830" dirty="0"/>
          </a:p>
        </p:txBody>
      </p:sp>
      <p:sp>
        <p:nvSpPr>
          <p:cNvPr id="45" name="Shape 39"/>
          <p:cNvSpPr/>
          <p:nvPr/>
        </p:nvSpPr>
        <p:spPr>
          <a:xfrm>
            <a:off x="5577840" y="80467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5577840" y="822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5577840" y="112471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↓8%</a:t>
            </a:r>
            <a:endParaRPr lang="en-US" sz="750" dirty="0"/>
          </a:p>
        </p:txBody>
      </p:sp>
      <p:sp>
        <p:nvSpPr>
          <p:cNvPr id="48" name="Text 42"/>
          <p:cNvSpPr/>
          <p:nvPr/>
        </p:nvSpPr>
        <p:spPr>
          <a:xfrm>
            <a:off x="5577840" y="12801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Received</a:t>
            </a:r>
            <a:endParaRPr lang="en-US" sz="650" dirty="0"/>
          </a:p>
        </p:txBody>
      </p:sp>
      <p:sp>
        <p:nvSpPr>
          <p:cNvPr id="49" name="Shape 43"/>
          <p:cNvSpPr/>
          <p:nvPr/>
        </p:nvSpPr>
        <p:spPr>
          <a:xfrm>
            <a:off x="6437376" y="80467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4"/>
          <p:cNvSpPr/>
          <p:nvPr/>
        </p:nvSpPr>
        <p:spPr>
          <a:xfrm>
            <a:off x="6437376" y="822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51" name="Text 45"/>
          <p:cNvSpPr/>
          <p:nvPr/>
        </p:nvSpPr>
        <p:spPr>
          <a:xfrm>
            <a:off x="6437376" y="12801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P1/P2 Incidents</a:t>
            </a:r>
            <a:endParaRPr lang="en-US" sz="650" dirty="0"/>
          </a:p>
        </p:txBody>
      </p:sp>
      <p:sp>
        <p:nvSpPr>
          <p:cNvPr id="52" name="Shape 46"/>
          <p:cNvSpPr/>
          <p:nvPr/>
        </p:nvSpPr>
        <p:spPr>
          <a:xfrm>
            <a:off x="7296912" y="80467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47"/>
          <p:cNvSpPr/>
          <p:nvPr/>
        </p:nvSpPr>
        <p:spPr>
          <a:xfrm>
            <a:off x="7296912" y="822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54" name="Text 48"/>
          <p:cNvSpPr/>
          <p:nvPr/>
        </p:nvSpPr>
        <p:spPr>
          <a:xfrm>
            <a:off x="7296912" y="12801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Implemented</a:t>
            </a:r>
            <a:endParaRPr lang="en-US" sz="650" dirty="0"/>
          </a:p>
        </p:txBody>
      </p:sp>
      <p:sp>
        <p:nvSpPr>
          <p:cNvPr id="55" name="Shape 49"/>
          <p:cNvSpPr/>
          <p:nvPr/>
        </p:nvSpPr>
        <p:spPr>
          <a:xfrm>
            <a:off x="8156448" y="804672"/>
            <a:ext cx="777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0"/>
          <p:cNvSpPr/>
          <p:nvPr/>
        </p:nvSpPr>
        <p:spPr>
          <a:xfrm>
            <a:off x="8156448" y="822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 dirty="0"/>
          </a:p>
        </p:txBody>
      </p:sp>
      <p:sp>
        <p:nvSpPr>
          <p:cNvPr id="57" name="Text 51"/>
          <p:cNvSpPr/>
          <p:nvPr/>
        </p:nvSpPr>
        <p:spPr>
          <a:xfrm>
            <a:off x="8156448" y="1124712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↓3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8156448" y="128016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&gt;14d</a:t>
            </a:r>
            <a:endParaRPr lang="en-US" sz="650" dirty="0"/>
          </a:p>
        </p:txBody>
      </p:sp>
      <p:sp>
        <p:nvSpPr>
          <p:cNvPr id="59" name="Shape 53"/>
          <p:cNvSpPr/>
          <p:nvPr/>
        </p:nvSpPr>
        <p:spPr>
          <a:xfrm>
            <a:off x="5577840" y="16459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4"/>
          <p:cNvSpPr/>
          <p:nvPr/>
        </p:nvSpPr>
        <p:spPr>
          <a:xfrm>
            <a:off x="5650992" y="17007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Volume Trend</a:t>
            </a:r>
            <a:endParaRPr lang="en-US" sz="1100" dirty="0"/>
          </a:p>
        </p:txBody>
      </p:sp>
      <p:graphicFrame>
        <p:nvGraphicFramePr>
          <p:cNvPr id="61" name="Chart 0" descr=""/>
          <p:cNvGraphicFramePr/>
          <p:nvPr/>
        </p:nvGraphicFramePr>
        <p:xfrm>
          <a:off x="5577840" y="1920240"/>
          <a:ext cx="3337560" cy="1078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2" name="Shape 55"/>
          <p:cNvSpPr/>
          <p:nvPr/>
        </p:nvSpPr>
        <p:spPr>
          <a:xfrm>
            <a:off x="5577840" y="3145536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Text 56"/>
          <p:cNvSpPr/>
          <p:nvPr/>
        </p:nvSpPr>
        <p:spPr>
          <a:xfrm>
            <a:off x="5650992" y="3200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Trends by Category</a:t>
            </a:r>
            <a:endParaRPr lang="en-US" sz="1100" dirty="0"/>
          </a:p>
        </p:txBody>
      </p:sp>
      <p:graphicFrame>
        <p:nvGraphicFramePr>
          <p:cNvPr id="64" name="Chart 1" descr=""/>
          <p:cNvGraphicFramePr/>
          <p:nvPr/>
        </p:nvGraphicFramePr>
        <p:xfrm>
          <a:off x="5577840" y="3419856"/>
          <a:ext cx="333756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Packaging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343400" y="914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Trends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77824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877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Activities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206240" y="8778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completed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47472" y="1133856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Global/Japan Delivery: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global + 7 Japan requests completed; validation checklist reduced rework 10%; Win 11 signed driver packaging pilot successful; 18 apps enabled for 3rd-party auto-updates.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7472" y="1380744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→ Intune Migration: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apps migrated, 70 in progress; 18 apps transitioned in April.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47472" y="1627632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Modernization: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migration from batch to PowerShell for automation and Intune integration.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47472" y="1874520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Deployments: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apps deployed to UAT and Production via Intune with zero issues.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7472" y="2121408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Improvements: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intake and tracking dashboard in development.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28600" y="2450592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51460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5216" y="25146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Work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206240" y="25146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progress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9184" y="279806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75234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Retention &amp; Decommissioning: Identify apps to retain and retire those covered by Intune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9184" y="307238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7200" y="302666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Migration Challenges: Reviewing complex apps with deployment/exclusion challenges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29184" y="334670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57200" y="3300984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to PowerShell script conversion, Global &amp; Japan Retirement, ADHOC apps migration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28600" y="3675888"/>
            <a:ext cx="5212080" cy="731520"/>
          </a:xfrm>
          <a:prstGeom prst="roundRect">
            <a:avLst>
              <a:gd name="adj" fmla="val 1000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749040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6928" y="3749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Mitigation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429768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risk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347472" y="3968496"/>
            <a:ext cx="5010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exclusion condition for Intune app like SCCM.  Mitigation — Exclusion Group conditions for Intune apps discussion in progress with Nathan.</a:t>
            </a:r>
            <a:endParaRPr lang="en-US" sz="830" dirty="0"/>
          </a:p>
        </p:txBody>
      </p:sp>
      <p:sp>
        <p:nvSpPr>
          <p:cNvPr id="29" name="Shape 24"/>
          <p:cNvSpPr/>
          <p:nvPr/>
        </p:nvSpPr>
        <p:spPr>
          <a:xfrm>
            <a:off x="5577840" y="804672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5"/>
          <p:cNvSpPr/>
          <p:nvPr/>
        </p:nvSpPr>
        <p:spPr>
          <a:xfrm>
            <a:off x="5577840" y="8412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5577840" y="1225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Received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7242048" y="804672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28"/>
          <p:cNvSpPr/>
          <p:nvPr/>
        </p:nvSpPr>
        <p:spPr>
          <a:xfrm>
            <a:off x="7242048" y="84124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400" dirty="0"/>
          </a:p>
        </p:txBody>
      </p:sp>
      <p:sp>
        <p:nvSpPr>
          <p:cNvPr id="34" name="Text 29"/>
          <p:cNvSpPr/>
          <p:nvPr/>
        </p:nvSpPr>
        <p:spPr>
          <a:xfrm>
            <a:off x="7242048" y="122529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577840" y="1627632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5577840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</a:t>
            </a:r>
            <a:endParaRPr lang="en-US" sz="2400" dirty="0"/>
          </a:p>
        </p:txBody>
      </p:sp>
      <p:sp>
        <p:nvSpPr>
          <p:cNvPr id="37" name="Text 32"/>
          <p:cNvSpPr/>
          <p:nvPr/>
        </p:nvSpPr>
        <p:spPr>
          <a:xfrm>
            <a:off x="5577840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 Time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7242048" y="1627632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4"/>
          <p:cNvSpPr/>
          <p:nvPr/>
        </p:nvSpPr>
        <p:spPr>
          <a:xfrm>
            <a:off x="7242048" y="166420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40" name="Text 35"/>
          <p:cNvSpPr/>
          <p:nvPr/>
        </p:nvSpPr>
        <p:spPr>
          <a:xfrm>
            <a:off x="7242048" y="204825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On-Hold</a:t>
            </a:r>
            <a:endParaRPr lang="en-US" sz="850" dirty="0"/>
          </a:p>
        </p:txBody>
      </p:sp>
      <p:sp>
        <p:nvSpPr>
          <p:cNvPr id="41" name="Shape 36"/>
          <p:cNvSpPr/>
          <p:nvPr/>
        </p:nvSpPr>
        <p:spPr>
          <a:xfrm>
            <a:off x="5577840" y="2450592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37"/>
          <p:cNvSpPr/>
          <p:nvPr/>
        </p:nvSpPr>
        <p:spPr>
          <a:xfrm>
            <a:off x="5650992" y="250545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HO Trend</a:t>
            </a:r>
            <a:endParaRPr lang="en-US" sz="1100" dirty="0"/>
          </a:p>
        </p:txBody>
      </p:sp>
      <p:graphicFrame>
        <p:nvGraphicFramePr>
          <p:cNvPr id="43" name="Chart 0" descr=""/>
          <p:cNvGraphicFramePr/>
          <p:nvPr/>
        </p:nvGraphicFramePr>
        <p:xfrm>
          <a:off x="5577840" y="2724912"/>
          <a:ext cx="333756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4" name="Shape 38"/>
          <p:cNvSpPr/>
          <p:nvPr/>
        </p:nvSpPr>
        <p:spPr>
          <a:xfrm>
            <a:off x="5577840" y="4041648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39"/>
          <p:cNvSpPr/>
          <p:nvPr/>
        </p:nvSpPr>
        <p:spPr>
          <a:xfrm>
            <a:off x="5650992" y="40965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Count — SCCM → Intune</a:t>
            </a:r>
            <a:endParaRPr lang="en-US" sz="1050" dirty="0"/>
          </a:p>
        </p:txBody>
      </p:sp>
      <p:graphicFrame>
        <p:nvGraphicFramePr>
          <p:cNvPr id="46" name="Chart 1" descr=""/>
          <p:cNvGraphicFramePr/>
          <p:nvPr/>
        </p:nvGraphicFramePr>
        <p:xfrm>
          <a:off x="5577840" y="4315968"/>
          <a:ext cx="3337560" cy="731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14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2120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7782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3504" y="8778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MECM Activities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60520" y="87782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completed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" y="1170432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124712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SSCCM post migration check and verifications</a:t>
            </a:r>
            <a:endParaRPr lang="en-US" sz="880" dirty="0"/>
          </a:p>
        </p:txBody>
      </p:sp>
      <p:sp>
        <p:nvSpPr>
          <p:cNvPr id="11" name="Shape 8"/>
          <p:cNvSpPr/>
          <p:nvPr/>
        </p:nvSpPr>
        <p:spPr>
          <a:xfrm>
            <a:off x="329184" y="1380744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35024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DP/SUP boundary groups reassignments verifications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329184" y="1591056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1545336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deployment, patch deployment and all MP/DP policy checks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329184" y="1801368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1755648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 CMG connection point troubleshooting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29184" y="201168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1965960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 CMG connection point was down — restored after troubleshooting</a:t>
            </a:r>
            <a:endParaRPr lang="en-US" sz="880" dirty="0"/>
          </a:p>
        </p:txBody>
      </p:sp>
      <p:sp>
        <p:nvSpPr>
          <p:cNvPr id="19" name="Shape 16"/>
          <p:cNvSpPr/>
          <p:nvPr/>
        </p:nvSpPr>
        <p:spPr>
          <a:xfrm>
            <a:off x="329184" y="2221992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176272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post-patch validation on AM production 1 servers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329184" y="2432304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386584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monthly WSUS cleanup on SUP servers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329184" y="2642616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596896"/>
            <a:ext cx="4919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custom scripts to improve March month patch compliance</a:t>
            </a:r>
            <a:endParaRPr lang="en-US" sz="880" dirty="0"/>
          </a:p>
        </p:txBody>
      </p:sp>
      <p:sp>
        <p:nvSpPr>
          <p:cNvPr id="25" name="Shape 22"/>
          <p:cNvSpPr/>
          <p:nvPr/>
        </p:nvSpPr>
        <p:spPr>
          <a:xfrm>
            <a:off x="228600" y="2852928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916936"/>
            <a:ext cx="219456" cy="21945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85216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Work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160520" y="29169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 progress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329184" y="3191256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57200" y="3145536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of the SISC OpCo patch compliance report</a:t>
            </a:r>
            <a:endParaRPr lang="en-US" sz="880" dirty="0"/>
          </a:p>
        </p:txBody>
      </p:sp>
      <p:sp>
        <p:nvSpPr>
          <p:cNvPr id="31" name="Shape 27"/>
          <p:cNvSpPr/>
          <p:nvPr/>
        </p:nvSpPr>
        <p:spPr>
          <a:xfrm>
            <a:off x="329184" y="344728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57200" y="3401568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local IT team with on-site code migration for pending devices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329184" y="37033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7200" y="3657600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rejoin: facing manual patch installation issues on the corporate network — ticket raised with network team</a:t>
            </a:r>
            <a:endParaRPr lang="en-US" sz="880" dirty="0"/>
          </a:p>
        </p:txBody>
      </p:sp>
      <p:sp>
        <p:nvSpPr>
          <p:cNvPr id="35" name="Shape 31"/>
          <p:cNvSpPr/>
          <p:nvPr/>
        </p:nvSpPr>
        <p:spPr>
          <a:xfrm>
            <a:off x="329184" y="395935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57200" y="3913632"/>
            <a:ext cx="4901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multiple OpCos to resolve OSD issues</a:t>
            </a:r>
            <a:endParaRPr lang="en-US" sz="880" dirty="0"/>
          </a:p>
        </p:txBody>
      </p:sp>
      <p:sp>
        <p:nvSpPr>
          <p:cNvPr id="37" name="Shape 33"/>
          <p:cNvSpPr/>
          <p:nvPr/>
        </p:nvSpPr>
        <p:spPr>
          <a:xfrm>
            <a:off x="5577840" y="804672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4"/>
          <p:cNvSpPr/>
          <p:nvPr/>
        </p:nvSpPr>
        <p:spPr>
          <a:xfrm>
            <a:off x="5650992" y="8595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Trend — By Category</a:t>
            </a:r>
            <a:endParaRPr lang="en-US" sz="1100" dirty="0"/>
          </a:p>
        </p:txBody>
      </p:sp>
      <p:graphicFrame>
        <p:nvGraphicFramePr>
          <p:cNvPr id="39" name="Chart 0" descr=""/>
          <p:cNvGraphicFramePr/>
          <p:nvPr/>
        </p:nvGraphicFramePr>
        <p:xfrm>
          <a:off x="5577840" y="1078992"/>
          <a:ext cx="3337560" cy="14813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0" name="Shape 35"/>
          <p:cNvSpPr/>
          <p:nvPr/>
        </p:nvSpPr>
        <p:spPr>
          <a:xfrm>
            <a:off x="5577840" y="2724912"/>
            <a:ext cx="33375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6"/>
          <p:cNvSpPr/>
          <p:nvPr/>
        </p:nvSpPr>
        <p:spPr>
          <a:xfrm>
            <a:off x="5650992" y="2779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Cases</a:t>
            </a:r>
            <a:endParaRPr lang="en-US" sz="1100" dirty="0"/>
          </a:p>
        </p:txBody>
      </p:sp>
      <p:graphicFrame>
        <p:nvGraphicFramePr>
          <p:cNvPr id="42" name="Chart 1" descr=""/>
          <p:cNvGraphicFramePr/>
          <p:nvPr/>
        </p:nvGraphicFramePr>
        <p:xfrm>
          <a:off x="5577840" y="2999232"/>
          <a:ext cx="3337560" cy="11704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SCCM L3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14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Updates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22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Logged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377440" y="804672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822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7744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526280" y="804672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26280" y="822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816→796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devices for site code migration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0" y="804672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8229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69%→80%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1261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compliance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" y="1719072"/>
            <a:ext cx="42519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83080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5216" y="1783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3291840" y="17830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completed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29184" y="205740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01168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pending devices site code migration from AP3 to US1 through Intune package creation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9184" y="228600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4028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addressed and resolved OSD issues, improving deployment efficiency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9184" y="251460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246888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CN patching compliance — migrated SUP &amp; MP server from AP3 to US1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29184" y="2743200"/>
            <a:ext cx="73152" cy="7315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697480"/>
            <a:ext cx="39867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addressed US1 site CMG issue, minimizing risk to intranet client operations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28600" y="2999232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63240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66928" y="30632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Work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3291840" y="3063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progress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29184" y="331012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48056" y="327355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Assisting local IT team with on-site code migration for pending devices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329184" y="349300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48056" y="34564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SCCM reports to assess patch compliance for SISC OpCo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329184" y="3675888"/>
            <a:ext cx="64008" cy="6400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48056" y="363931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replication optimization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228600" y="3895344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959352"/>
            <a:ext cx="201168" cy="20116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566928" y="395935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Mitigation Plan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3291840" y="39593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risk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347472" y="4169664"/>
            <a:ext cx="409651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blocking issue on AP Windows servers impacting Windows updates. Mitigation — Working with MS and Network team to identify the cause.</a:t>
            </a:r>
            <a:endParaRPr lang="en-US" sz="830" dirty="0"/>
          </a:p>
        </p:txBody>
      </p:sp>
      <p:sp>
        <p:nvSpPr>
          <p:cNvPr id="44" name="Shape 39"/>
          <p:cNvSpPr/>
          <p:nvPr/>
        </p:nvSpPr>
        <p:spPr>
          <a:xfrm>
            <a:off x="4663440" y="1719072"/>
            <a:ext cx="425196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0"/>
          <p:cNvSpPr/>
          <p:nvPr/>
        </p:nvSpPr>
        <p:spPr>
          <a:xfrm>
            <a:off x="4736592" y="17739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Distribution — Incidents &amp; Work Orders</a:t>
            </a:r>
            <a:endParaRPr lang="en-US" sz="10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4663440" y="1993392"/>
          <a:ext cx="4251960" cy="10241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7" name="Shape 41"/>
          <p:cNvSpPr/>
          <p:nvPr/>
        </p:nvSpPr>
        <p:spPr>
          <a:xfrm>
            <a:off x="4663440" y="3145536"/>
            <a:ext cx="42519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2"/>
          <p:cNvSpPr/>
          <p:nvPr/>
        </p:nvSpPr>
        <p:spPr>
          <a:xfrm>
            <a:off x="4736592" y="3200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April 2026</a:t>
            </a:r>
            <a:endParaRPr lang="en-US" sz="1050" dirty="0"/>
          </a:p>
        </p:txBody>
      </p:sp>
      <p:graphicFrame>
        <p:nvGraphicFramePr>
          <p:cNvPr id="49" name="Chart 1" descr=""/>
          <p:cNvGraphicFramePr/>
          <p:nvPr/>
        </p:nvGraphicFramePr>
        <p:xfrm>
          <a:off x="4663440" y="3419856"/>
          <a:ext cx="4251960" cy="12435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Operations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9718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Updates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943600" y="804672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8229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0" y="11704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6967728" y="804672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67728" y="8229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67728" y="11704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PD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7991856" y="804672"/>
            <a:ext cx="93268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91856" y="822960"/>
            <a:ext cx="932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91856" y="117043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Op-Cos live with Autopilot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228600" y="804672"/>
            <a:ext cx="54406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877824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85216" y="8778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389120" y="8778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completed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47472" y="1115568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Autopilot: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Op-Co (STT) onboarded; ~10% adoption achieved across AP.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47472" y="1362456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Hello for Business: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enforcement in progress; live in SISC, testing ongoing for other Op-Cos.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47472" y="1609344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Debt &amp; Vulnerabilities: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vulnerabilities due to BIOS update limitations; remediation in progress. Multiple high sev vulns addressed to keep PD under 15%.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47472" y="1856232"/>
            <a:ext cx="5010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Enablement: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Network team to enable required endpoints for seamless Intune updates.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43600" y="1572768"/>
            <a:ext cx="288036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16752" y="1627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Hello PIN Enablement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8156448" y="1627632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8021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016752" y="1856232"/>
            <a:ext cx="2304288" cy="91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943600" y="2148840"/>
            <a:ext cx="2880360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016752" y="21945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Enrollments — Apr 26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8156448" y="219456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28600" y="2212848"/>
            <a:ext cx="54406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0"/>
            <a:ext cx="201168" cy="20116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66928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Priorities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389120" y="22860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 progress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347472" y="2523744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Global team for Patching migration schedule: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schedule for patching migration to Intune &amp; movement of required Op-Cos in timely manner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347472" y="2779776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Autopilot Adoption: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Go-Live of multiple high-volume Op-Cos like SID &amp; SOEMKL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347472" y="3035808"/>
            <a:ext cx="5230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of PD: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revised KPI &amp; Thresholds. Patching Migration — SCCM to Intune test to be initiated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228600" y="3383280"/>
            <a:ext cx="5440680" cy="960120"/>
          </a:xfrm>
          <a:prstGeom prst="roundRect">
            <a:avLst>
              <a:gd name="adj" fmla="val 761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56432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66928" y="3456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/ Mitigation Plan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4389120" y="34564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risks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347472" y="3675888"/>
            <a:ext cx="5230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 issue due to device non-compliant devices. Mitigation: Root cause via rejoin/enroll into Intune in progress — likely due to device activity.</a:t>
            </a:r>
            <a:endParaRPr lang="en-US" sz="830" dirty="0"/>
          </a:p>
        </p:txBody>
      </p:sp>
      <p:sp>
        <p:nvSpPr>
          <p:cNvPr id="41" name="Text 36"/>
          <p:cNvSpPr/>
          <p:nvPr/>
        </p:nvSpPr>
        <p:spPr>
          <a:xfrm>
            <a:off x="347472" y="4005072"/>
            <a:ext cx="5230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Authentication issues for 3 OPCO's (SOMAS, PENTAS). Mitigation: Working with Microsoft to identify root cause — SWING connecting with Device cert but not User Cert.</a:t>
            </a:r>
            <a:endParaRPr lang="en-US" sz="830" dirty="0"/>
          </a:p>
        </p:txBody>
      </p:sp>
      <p:sp>
        <p:nvSpPr>
          <p:cNvPr id="42" name="Shape 37"/>
          <p:cNvSpPr/>
          <p:nvPr/>
        </p:nvSpPr>
        <p:spPr>
          <a:xfrm>
            <a:off x="5943600" y="26517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Text 38"/>
          <p:cNvSpPr/>
          <p:nvPr/>
        </p:nvSpPr>
        <p:spPr>
          <a:xfrm>
            <a:off x="6016752" y="27066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PD Trend</a:t>
            </a:r>
            <a:endParaRPr lang="en-US" sz="105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5943600" y="2907792"/>
          <a:ext cx="2880360" cy="10607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5" name="Shape 39"/>
          <p:cNvSpPr/>
          <p:nvPr/>
        </p:nvSpPr>
        <p:spPr>
          <a:xfrm>
            <a:off x="5943600" y="4096512"/>
            <a:ext cx="2880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Text 40"/>
          <p:cNvSpPr/>
          <p:nvPr/>
        </p:nvSpPr>
        <p:spPr>
          <a:xfrm>
            <a:off x="6016752" y="41513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Device Count</a:t>
            </a:r>
            <a:endParaRPr lang="en-US" sz="1000" dirty="0"/>
          </a:p>
        </p:txBody>
      </p:sp>
      <p:graphicFrame>
        <p:nvGraphicFramePr>
          <p:cNvPr id="47" name="Chart 1" descr=""/>
          <p:cNvGraphicFramePr/>
          <p:nvPr/>
        </p:nvGraphicFramePr>
        <p:xfrm>
          <a:off x="5943600" y="4334256"/>
          <a:ext cx="2880360" cy="566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Region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Update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804672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82296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12.5%→9.1%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06640" y="115214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Patch Debt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17904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5361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06640" y="186537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Logged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0" y="2231136"/>
            <a:ext cx="15087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2249424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57860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804672"/>
            <a:ext cx="352044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" y="859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Distribution — Incidents &amp; Work Orders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228600" y="1078992"/>
          <a:ext cx="3520440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3840480" y="804672"/>
            <a:ext cx="34290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913632" y="8595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— April 2026</a:t>
            </a:r>
            <a:endParaRPr lang="en-US" sz="105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3840480" y="1078992"/>
          <a:ext cx="3429000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Shape 16"/>
          <p:cNvSpPr/>
          <p:nvPr/>
        </p:nvSpPr>
        <p:spPr>
          <a:xfrm>
            <a:off x="228600" y="2633472"/>
            <a:ext cx="28163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28600" y="2633472"/>
            <a:ext cx="2816352" cy="329184"/>
          </a:xfrm>
          <a:prstGeom prst="rect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01752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— Client Configuration Analyst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20040" y="3017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48056" y="29718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SSS-EU Leavers &amp; New joiners (2026 March) requests processed by adding computers to respective AD groups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320040" y="352958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8056" y="3483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latest version v26.001.21411 provided to Sony Music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320040" y="404164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48056" y="39959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Patch debt decreased to 9.1% from 12.5%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320040" y="455371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48056" y="45079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critical Google Chrome vulnerabilities fixed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3200400" y="2633472"/>
            <a:ext cx="28163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3200400" y="2633472"/>
            <a:ext cx="2816352" cy="329184"/>
          </a:xfrm>
          <a:prstGeom prst="rect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3273552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— Client Architect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3291840" y="3017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3419856" y="29718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- GISNWA: Security Changes Windows 10 policy causing Network discovery failure — SSDP Discovery set to disabled</a:t>
            </a:r>
            <a:endParaRPr lang="en-US" sz="800" dirty="0"/>
          </a:p>
        </p:txBody>
      </p:sp>
      <p:sp>
        <p:nvSpPr>
          <p:cNvPr id="36" name="Shape 32"/>
          <p:cNvSpPr/>
          <p:nvPr/>
        </p:nvSpPr>
        <p:spPr>
          <a:xfrm>
            <a:off x="3291840" y="352958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419856" y="3483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GPO - SSDP discovery enabled and applied on test OU — awaiting confirmation from test user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3291840" y="404164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419856" y="39959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SDS/BE-Brussels: Legacy LAPS not working for the opco — policies re-mapped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3291840" y="4553712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419856" y="450799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RDP/Admin access audit for EU region completed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6172200" y="2633472"/>
            <a:ext cx="2816352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6172200" y="2633472"/>
            <a:ext cx="2816352" cy="329184"/>
          </a:xfrm>
          <a:prstGeom prst="rect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245352" y="2651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EUSP — IT Service Owner</a:t>
            </a:r>
            <a:endParaRPr lang="en-US" sz="900" dirty="0"/>
          </a:p>
        </p:txBody>
      </p:sp>
      <p:sp>
        <p:nvSpPr>
          <p:cNvPr id="45" name="Shape 41"/>
          <p:cNvSpPr/>
          <p:nvPr/>
        </p:nvSpPr>
        <p:spPr>
          <a:xfrm>
            <a:off x="6263640" y="3017520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391656" y="2971800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Europe Intune compliance exception group to enforce global minimum OS requirements</a:t>
            </a:r>
            <a:endParaRPr lang="en-US" sz="800" dirty="0"/>
          </a:p>
        </p:txBody>
      </p:sp>
      <p:sp>
        <p:nvSpPr>
          <p:cNvPr id="47" name="Shape 43"/>
          <p:cNvSpPr/>
          <p:nvPr/>
        </p:nvSpPr>
        <p:spPr>
          <a:xfrm>
            <a:off x="6263640" y="3529584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391656" y="3483864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and deleted unused Helix resolver group — reassigning 40 stuck tickets to avoid delays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6263640" y="4041648"/>
            <a:ext cx="73152" cy="731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391656" y="3995928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Autopilot issue affecting Teams &amp; SharePoint thumbnail rendering — Microsoft engaged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 — SIE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14600" y="914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06640" y="804672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82296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25/25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06640" y="1170432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Closed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5448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57276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06640" y="1920240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SLA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06640" y="2304288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406640" y="232257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70048"/>
            <a:ext cx="1508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Maintained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804672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859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1170432"/>
            <a:ext cx="45720" cy="21945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1133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Hello authentication fully restored with NGC reprovisioning and trust chain validation completed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20040" y="1536192"/>
            <a:ext cx="45720" cy="21945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1499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SCEP/NDES/CA infrastructure validation completed with end-to-end certificate chain verified to Sony Global Root CA 2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320040" y="1901952"/>
            <a:ext cx="45720" cy="21945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1865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Ivanti and CrowdStrike security platforms successfully deployed — completing critical security baseline requirements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320040" y="2267712"/>
            <a:ext cx="45720" cy="21945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2231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and Okta Verify workstreams advanced with Windows Autopilot deployment progressing through delegated SCEP challenge validation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3794760" y="804672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886200" y="859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Progress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86200" y="1170432"/>
            <a:ext cx="4572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86784" y="113385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tickets closed within SLA — 100% closure rate exceeding the 95% target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886200" y="1536192"/>
            <a:ext cx="4572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6784" y="14996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 Teams sign-out investigation continues with active collaboration between Microsoft and Poly engineering teams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3886200" y="1901952"/>
            <a:ext cx="4572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86784" y="1865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Access and Trusted Location subnet validation pending — 17 policies reviewed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3886200" y="2267712"/>
            <a:ext cx="4572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86784" y="22311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service status maintained at Green with operational control demonstrating readiness for platform expansion</a:t>
            </a:r>
            <a:endParaRPr lang="en-US" sz="830" dirty="0"/>
          </a:p>
        </p:txBody>
      </p:sp>
      <p:sp>
        <p:nvSpPr>
          <p:cNvPr id="34" name="Shape 32"/>
          <p:cNvSpPr/>
          <p:nvPr/>
        </p:nvSpPr>
        <p:spPr>
          <a:xfrm>
            <a:off x="228600" y="2724912"/>
            <a:ext cx="452628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2724912"/>
            <a:ext cx="4526280" cy="310896"/>
          </a:xfrm>
          <a:prstGeom prst="rect">
            <a:avLst/>
          </a:prstGeom>
          <a:solidFill>
            <a:srgbClr val="1A3B6F"/>
          </a:solidFill>
          <a:ln w="12700">
            <a:solidFill>
              <a:srgbClr val="1A3B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276148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 Priorities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01752" y="3090672"/>
            <a:ext cx="1389888" cy="969264"/>
          </a:xfrm>
          <a:prstGeom prst="roundRect">
            <a:avLst>
              <a:gd name="adj" fmla="val 566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312724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remaining Conditional Access and Poly investigation with root cause analysis for Teams sign-out issues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764792" y="3090672"/>
            <a:ext cx="1389888" cy="969264"/>
          </a:xfrm>
          <a:prstGeom prst="roundRect">
            <a:avLst>
              <a:gd name="adj" fmla="val 566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10512" y="312724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subnet validation and policy refinement to finalize Trusted Location validation and Conditional Access policy updates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227832" y="3090672"/>
            <a:ext cx="1389888" cy="969264"/>
          </a:xfrm>
          <a:prstGeom prst="roundRect">
            <a:avLst>
              <a:gd name="adj" fmla="val 5660"/>
            </a:avLst>
          </a:prstGeom>
          <a:solidFill>
            <a:srgbClr val="F7F9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73552" y="3127248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Fleet and Okta Verify validation advancing Windows Autopilot deployment with delegated SCEP challenge protocols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28600" y="4187952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01752" y="422452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Focus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01752" y="4462272"/>
            <a:ext cx="4370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Baseline &amp; Hardening: Enterprise security alignment.  SLA Excellence: 99% closure rate.  Profile Governance: Certificate, Wi-Fi, VPN automated monitoring.  Executive Reporting: Bi-weekly service health reporting.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800600" y="2724912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EF2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73752" y="27797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Ticket Volume</a:t>
            </a:r>
            <a:endParaRPr lang="en-US" sz="1150" dirty="0"/>
          </a:p>
        </p:txBody>
      </p:sp>
      <p:graphicFrame>
        <p:nvGraphicFramePr>
          <p:cNvPr id="48" name="Chart 0" descr=""/>
          <p:cNvGraphicFramePr/>
          <p:nvPr/>
        </p:nvGraphicFramePr>
        <p:xfrm>
          <a:off x="4800600" y="2999232"/>
          <a:ext cx="4114800" cy="1956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SISC Device Experience - Monthly Management Report</dc:title>
  <dc:subject>PptxGenJS Presentation</dc:subject>
  <dc:creator>PptxGenJS</dc:creator>
  <cp:lastModifiedBy>PptxGenJS</cp:lastModifiedBy>
  <cp:revision>1</cp:revision>
  <dcterms:created xsi:type="dcterms:W3CDTF">2026-05-12T10:13:29Z</dcterms:created>
  <dcterms:modified xsi:type="dcterms:W3CDTF">2026-05-12T10:13:29Z</dcterms:modified>
</cp:coreProperties>
</file>